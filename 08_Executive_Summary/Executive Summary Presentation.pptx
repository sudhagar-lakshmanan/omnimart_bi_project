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77" r:id="rId4"/>
    <p:sldId id="268" r:id="rId5"/>
    <p:sldId id="272" r:id="rId6"/>
    <p:sldId id="273" r:id="rId7"/>
    <p:sldId id="258" r:id="rId8"/>
    <p:sldId id="266" r:id="rId9"/>
    <p:sldId id="265" r:id="rId10"/>
    <p:sldId id="264" r:id="rId11"/>
    <p:sldId id="263" r:id="rId12"/>
    <p:sldId id="267" r:id="rId13"/>
    <p:sldId id="274" r:id="rId14"/>
    <p:sldId id="275" r:id="rId15"/>
    <p:sldId id="276" r:id="rId16"/>
    <p:sldId id="27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BAF1"/>
    <a:srgbClr val="FF6600"/>
    <a:srgbClr val="FF3300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30" autoAdjust="0"/>
  </p:normalViewPr>
  <p:slideViewPr>
    <p:cSldViewPr snapToGrid="0">
      <p:cViewPr varScale="1">
        <p:scale>
          <a:sx n="71" d="100"/>
          <a:sy n="71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B24A06-6C85-2938-DF8D-1FA47FC0F1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C45CA-6A85-827A-A2A7-5F86F68267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394B3-7955-4127-9146-45D74CF8F4F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3E0C2-022B-50FA-8048-B25F1B074D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E53B0-70F6-B7E9-79A6-F61746CFE0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15534-F637-49E4-950B-D1647795C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248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68288-5D2C-4D7A-A80A-930E7FE5C3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8818A-5862-46ED-A807-B7D457D64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5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8818A-5862-46ED-A807-B7D457D64EC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66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8818A-5862-46ED-A807-B7D457D64EC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44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A378-50FA-66B8-C338-F06B727A1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91E03-3562-F052-129C-69588AE40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42791-E4C4-6932-135B-9D7716A7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58DB5-47C1-ABD9-48EF-56BB5D59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FE001-B957-B62F-70A4-6E902253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55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560A-BB43-D9F8-27BD-EB30F9AD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FA209-F21C-9899-FB92-62328ACC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ED359-A074-5B32-0B5D-6ADD788A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9CFCD-6A55-C77C-E570-3B96156C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A12A0-2FF7-870C-0435-2E52E25D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94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226E-00C8-F26D-2C6E-0D48DD82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86992-04D1-6E52-8773-AA3D88D58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051DF-F4CD-55CA-66FD-995B00FB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CDB31-16A5-3493-33BF-65F4C0D36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EF18-225A-C4C8-8B07-DCD8D3B6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91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7837-D4C2-1298-4DB7-751E53B5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8D69-A0C6-6B09-B2B5-2AD10C78A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A81F1-1EBD-B7A4-FBAF-A87E6C5CB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0E79A-4571-5065-0CE5-2572794B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FFE12-0499-BE04-2D59-286C56B7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BDB4-185F-A4DC-FE3F-C92417BF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97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0A33-DCC0-5496-C271-9FB7F883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5F0D-6067-F865-D680-1C73C0204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FF7F-2B38-A182-C4D9-97D910360C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DFE2E9-DA2E-2D97-A83B-670FDD85A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24436-5474-647E-A1AC-11C32862F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9A40D-E7E3-9360-7C07-C7306767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018C1-02FD-6B7A-2647-E675BA54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9575A-4010-B7E6-1805-2FC1668E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9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FD2E-C85F-1793-0575-50BD3DC2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47687-15CB-6C23-43F5-398D254A3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68BA2-D4EE-6EE0-D6E8-FAD4B7AF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C1DE8-25BD-7B90-6FF9-CF67CA24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24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B20DD-3E61-6252-D7ED-FA165E73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619AE-1DBA-4662-91A8-9E9164E3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8DCB9-192F-4E68-938E-8C5B942B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0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4E79-BC65-E286-4039-7C8C5C695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A60D-6E2D-578D-1221-97E0725A3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CD9F8-DD7E-C668-EA18-E0B8B6E90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9340C-F769-524C-06A7-C308DEAA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E9B7E-5561-01DE-FDF1-AA92B6276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7402D-D4B0-FA16-E0B5-3346B266C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86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9918-70E7-EF0E-9959-ACBF20DE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F8CC6-7AD1-DDFA-7302-B926FDA98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823F0-B7F6-9F95-C200-6D40B7403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A31BC-F89B-8EFB-21AE-5DEEE976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FEE50-CEEA-C01D-AFE7-C209616B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86FB0-3C09-534C-FD98-BF496572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2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7F90-7BDE-4F22-77A9-1DA19C77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88C16-DDAE-64F4-EC2E-F54BF69A0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78F6B-8720-B192-0347-28ACDC78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4438D-6C93-11FB-F630-176D27F7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0417D-5342-3CDD-65CF-7A416D3E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16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E653B3-081E-E8CC-4F3C-FD603492D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D927E-2809-086A-AA2E-E75AF65EF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03F64-C14C-BD82-02BF-19EAD202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A5863-BA5C-F3A1-3445-C11DCC4A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0757-60F8-E82B-BCFB-FA59BBFB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53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C8B78-0F28-7C74-239F-864AC15C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00352-03AD-3EAA-588D-2006140C2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D6CB-7B69-FBC3-1011-0275846D9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C63B5-6517-4145-B5F0-B8798FCA42F4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68F0B-2404-39A5-4ADA-8A3AE51BE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EBC41-1E58-7739-9598-6C9B09541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13DA5-A870-4605-B810-3B1A6E6DA3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90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image" Target="../media/image1.jpg"/><Relationship Id="rId16" Type="http://schemas.openxmlformats.org/officeDocument/2006/relationships/slide" Target="slide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1.jpg"/><Relationship Id="rId7" Type="http://schemas.openxmlformats.org/officeDocument/2006/relationships/slide" Target="slide18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11" Type="http://schemas.openxmlformats.org/officeDocument/2006/relationships/image" Target="../media/image11.png"/><Relationship Id="rId5" Type="http://schemas.openxmlformats.org/officeDocument/2006/relationships/hyperlink" Target="https://www.kaggle.com/datasets/raghavendragandhi/retail-customer-and-transaction-dataset?select=customer_reviews_complete.csv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43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3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A19B57E-98EA-AD06-E63E-0BD5E2BC2EF4}"/>
              </a:ext>
            </a:extLst>
          </p:cNvPr>
          <p:cNvSpPr/>
          <p:nvPr/>
        </p:nvSpPr>
        <p:spPr>
          <a:xfrm rot="5400000" flipH="1">
            <a:off x="1191876" y="-1191875"/>
            <a:ext cx="1033668" cy="3417422"/>
          </a:xfrm>
          <a:prstGeom prst="round2SameRect">
            <a:avLst/>
          </a:prstGeom>
          <a:gradFill flip="none" rotWithShape="1">
            <a:gsLst>
              <a:gs pos="0">
                <a:schemeClr val="accent6"/>
              </a:gs>
              <a:gs pos="4000">
                <a:schemeClr val="accent6">
                  <a:lumMod val="60000"/>
                  <a:lumOff val="40000"/>
                </a:schemeClr>
              </a:gs>
              <a:gs pos="56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12143-894E-3729-9843-49200C431DEF}"/>
              </a:ext>
            </a:extLst>
          </p:cNvPr>
          <p:cNvSpPr txBox="1"/>
          <p:nvPr/>
        </p:nvSpPr>
        <p:spPr>
          <a:xfrm>
            <a:off x="0" y="1299987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Omnichannel Retail Behavior and Performance Analytics Dashboard</a:t>
            </a:r>
            <a:endParaRPr lang="en-IN" sz="4800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436FE6-4C86-FCA1-E1D2-187F137D6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0500"/>
            <a:ext cx="905088" cy="8767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D1949C-DF03-9F6E-92D5-C9BFD008A3A7}"/>
              </a:ext>
            </a:extLst>
          </p:cNvPr>
          <p:cNvSpPr txBox="1"/>
          <p:nvPr/>
        </p:nvSpPr>
        <p:spPr>
          <a:xfrm>
            <a:off x="981288" y="318807"/>
            <a:ext cx="2436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cs typeface="Segoe UI Semibold" panose="020B0702040204020203" pitchFamily="34" charset="0"/>
              </a:rPr>
              <a:t>OmniMart Pvt Ltd.</a:t>
            </a:r>
            <a:endParaRPr lang="en-IN" sz="2000" b="1" dirty="0"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2369A7-2E96-79E8-EE81-F8848200B492}"/>
              </a:ext>
            </a:extLst>
          </p:cNvPr>
          <p:cNvSpPr txBox="1"/>
          <p:nvPr/>
        </p:nvSpPr>
        <p:spPr>
          <a:xfrm>
            <a:off x="-1" y="5695207"/>
            <a:ext cx="7752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cs typeface="Segoe UI Semibold" panose="020B0702040204020203" pitchFamily="34" charset="0"/>
              </a:rPr>
              <a:t>By - Sudhagar Lakshmanan | Business Intelligence Engineer</a:t>
            </a:r>
            <a:endParaRPr lang="en-IN" sz="2400" b="1" dirty="0">
              <a:solidFill>
                <a:schemeClr val="bg1"/>
              </a:solidFill>
              <a:cs typeface="Segoe UI Semibold" panose="020B07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0778E-2FDC-C6AC-1DCD-471BB78D3C4C}"/>
              </a:ext>
            </a:extLst>
          </p:cNvPr>
          <p:cNvSpPr txBox="1"/>
          <p:nvPr/>
        </p:nvSpPr>
        <p:spPr>
          <a:xfrm>
            <a:off x="0" y="3107954"/>
            <a:ext cx="5656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Analysis Period: March 2020 - March 2025</a:t>
            </a:r>
            <a:endParaRPr lang="en-IN" sz="3200" b="1" dirty="0">
              <a:solidFill>
                <a:schemeClr val="bg1"/>
              </a:solidFill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572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9E3A9-553B-E901-7656-3DF0B64C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B7F975-C9A2-B930-5F60-A71E5CB19D03}"/>
              </a:ext>
            </a:extLst>
          </p:cNvPr>
          <p:cNvSpPr/>
          <p:nvPr/>
        </p:nvSpPr>
        <p:spPr>
          <a:xfrm>
            <a:off x="103484" y="508120"/>
            <a:ext cx="11966596" cy="6304279"/>
          </a:xfrm>
          <a:prstGeom prst="roundRect">
            <a:avLst>
              <a:gd name="adj" fmla="val 5105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D28A7-CA1A-9CD4-E004-3B673D5CC9DE}"/>
              </a:ext>
            </a:extLst>
          </p:cNvPr>
          <p:cNvSpPr txBox="1"/>
          <p:nvPr/>
        </p:nvSpPr>
        <p:spPr>
          <a:xfrm>
            <a:off x="-1" y="-86064"/>
            <a:ext cx="851492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Table of Content</a:t>
            </a:r>
            <a:r>
              <a:rPr lang="en-US" sz="1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 </a:t>
            </a:r>
            <a:r>
              <a:rPr lang="en-IN" sz="1600" b="1" dirty="0">
                <a:solidFill>
                  <a:srgbClr val="FFFF00"/>
                </a:solidFill>
              </a:rPr>
              <a:t>(Click Hyperlink texts below to explore the destination)</a:t>
            </a:r>
          </a:p>
          <a:p>
            <a:endParaRPr lang="en-IN" sz="1600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958B32-FC0B-8807-8A7F-DA3DECC1B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88385"/>
              </p:ext>
            </p:extLst>
          </p:nvPr>
        </p:nvGraphicFramePr>
        <p:xfrm>
          <a:off x="1960917" y="493808"/>
          <a:ext cx="8514925" cy="630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0161">
                  <a:extLst>
                    <a:ext uri="{9D8B030D-6E8A-4147-A177-3AD203B41FA5}">
                      <a16:colId xmlns:a16="http://schemas.microsoft.com/office/drawing/2014/main" val="2323989735"/>
                    </a:ext>
                  </a:extLst>
                </a:gridCol>
                <a:gridCol w="854764">
                  <a:extLst>
                    <a:ext uri="{9D8B030D-6E8A-4147-A177-3AD203B41FA5}">
                      <a16:colId xmlns:a16="http://schemas.microsoft.com/office/drawing/2014/main" val="2395822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Executive Summary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2206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Data Source and Processing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0719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Workflow and Approach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1326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Tools Used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220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Key Insights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12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Revenue Insights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053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Product Insights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4413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Customer Insights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4656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Campaigns Insights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7077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Support Tickets Insights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6834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Recommendations  -  Revenue , Product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04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Recommendations  -  Customers, Campaigns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42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Recommendations  -  Support Tickets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435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Action Plan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0088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Appendix 1: File Descriptions  -  Customers, Transactions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30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Appendix 1: File Descriptions  -  Interactions, Campaigns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9174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hlinkClick r:id="rId1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Appendix 1: File Descriptions  -  Customers Reviews, Support Tickets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6071503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0E141B0F-64C7-FA0D-8E5B-AF882223C3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81" y="2965128"/>
            <a:ext cx="1206040" cy="12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9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F9646-5871-52AE-7E6A-52454722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DC449F5-E018-C9A9-6E59-E0214AC7E47E}"/>
              </a:ext>
            </a:extLst>
          </p:cNvPr>
          <p:cNvSpPr/>
          <p:nvPr/>
        </p:nvSpPr>
        <p:spPr>
          <a:xfrm>
            <a:off x="103485" y="761999"/>
            <a:ext cx="4962812" cy="3332089"/>
          </a:xfrm>
          <a:prstGeom prst="roundRect">
            <a:avLst>
              <a:gd name="adj" fmla="val 5105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2883C-2E98-599A-8C48-B02672F0C8F9}"/>
              </a:ext>
            </a:extLst>
          </p:cNvPr>
          <p:cNvSpPr txBox="1"/>
          <p:nvPr/>
        </p:nvSpPr>
        <p:spPr>
          <a:xfrm>
            <a:off x="0" y="0"/>
            <a:ext cx="476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Executive Summary</a:t>
            </a:r>
            <a:endParaRPr lang="en-IN" sz="3600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CD9FB-66B8-AA8D-C2A7-DDEFC5BB6242}"/>
              </a:ext>
            </a:extLst>
          </p:cNvPr>
          <p:cNvSpPr txBox="1"/>
          <p:nvPr/>
        </p:nvSpPr>
        <p:spPr>
          <a:xfrm>
            <a:off x="108153" y="781050"/>
            <a:ext cx="49180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Project Overview</a:t>
            </a:r>
            <a:br>
              <a:rPr lang="en-US" sz="2400" b="1" dirty="0">
                <a:solidFill>
                  <a:srgbClr val="FFFF00"/>
                </a:solidFill>
                <a:cs typeface="Segoe UI Semibold" panose="020B0702040204020203" pitchFamily="34" charset="0"/>
              </a:rPr>
            </a:br>
            <a:endParaRPr lang="en-US" sz="16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This analysis was conducted as part of a business intelligence initiative to evaluate the </a:t>
            </a:r>
            <a:r>
              <a:rPr lang="en-US" sz="1600" b="1" dirty="0">
                <a:solidFill>
                  <a:schemeClr val="bg1"/>
                </a:solidFill>
              </a:rPr>
              <a:t>Omnichannel retail behavior and performance</a:t>
            </a:r>
            <a:r>
              <a:rPr lang="en-US" sz="1600" dirty="0">
                <a:solidFill>
                  <a:schemeClr val="bg1"/>
                </a:solidFill>
              </a:rPr>
              <a:t> of a fictional retail brand </a:t>
            </a:r>
            <a:r>
              <a:rPr lang="en-US" sz="1600" b="1" dirty="0">
                <a:solidFill>
                  <a:schemeClr val="bg1"/>
                </a:solidFill>
              </a:rPr>
              <a:t>OmniMart Pvt Ltd</a:t>
            </a:r>
            <a:r>
              <a:rPr lang="en-US" sz="1600" dirty="0">
                <a:solidFill>
                  <a:schemeClr val="bg1"/>
                </a:solidFill>
              </a:rPr>
              <a:t> over the period </a:t>
            </a:r>
            <a:r>
              <a:rPr lang="en-US" sz="1600" b="1" dirty="0">
                <a:solidFill>
                  <a:schemeClr val="bg1"/>
                </a:solidFill>
              </a:rPr>
              <a:t>March 2020 to March 2025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bg1"/>
                </a:solidFill>
              </a:rPr>
              <a:t>The objective was to identify insights and opportunities across five key business areas - </a:t>
            </a:r>
            <a:r>
              <a:rPr lang="en-US" sz="1600" b="1" dirty="0">
                <a:solidFill>
                  <a:schemeClr val="bg1"/>
                </a:solidFill>
              </a:rPr>
              <a:t>Revenue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>
                <a:solidFill>
                  <a:schemeClr val="bg1"/>
                </a:solidFill>
              </a:rPr>
              <a:t>Products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>
                <a:solidFill>
                  <a:schemeClr val="bg1"/>
                </a:solidFill>
              </a:rPr>
              <a:t>Customers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>
                <a:solidFill>
                  <a:schemeClr val="bg1"/>
                </a:solidFill>
              </a:rPr>
              <a:t>Campaigns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Support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56B8AE-92EE-06BB-81A7-ECFC00508E85}"/>
              </a:ext>
            </a:extLst>
          </p:cNvPr>
          <p:cNvSpPr/>
          <p:nvPr/>
        </p:nvSpPr>
        <p:spPr>
          <a:xfrm>
            <a:off x="5173283" y="761998"/>
            <a:ext cx="6803128" cy="5983917"/>
          </a:xfrm>
          <a:prstGeom prst="roundRect">
            <a:avLst>
              <a:gd name="adj" fmla="val 2698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3533E-1422-3EA8-384F-22EA52918EA7}"/>
              </a:ext>
            </a:extLst>
          </p:cNvPr>
          <p:cNvSpPr txBox="1"/>
          <p:nvPr/>
        </p:nvSpPr>
        <p:spPr>
          <a:xfrm>
            <a:off x="5219236" y="1256495"/>
            <a:ext cx="669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What OmniMart Aims to Achieve with the Power BI Dashboard ?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B3E9D82-1CD1-6105-7D55-1BBB1C59C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213" y="2691006"/>
            <a:ext cx="583787" cy="58378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2CA7A21-5927-6498-D2C5-10DE67F601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692" y="3603864"/>
            <a:ext cx="583200" cy="583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D64E3EA-7339-5CC4-E5EB-3EEAFA4B7F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44" y="4599515"/>
            <a:ext cx="583200" cy="583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B2DDE2-199A-6D8B-0BF6-425ABCD47E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737" y="5546793"/>
            <a:ext cx="583200" cy="58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9045F9-4636-2B40-A1B4-B15721E25425}"/>
              </a:ext>
            </a:extLst>
          </p:cNvPr>
          <p:cNvSpPr txBox="1"/>
          <p:nvPr/>
        </p:nvSpPr>
        <p:spPr>
          <a:xfrm>
            <a:off x="6192937" y="1665583"/>
            <a:ext cx="578347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sz="1600" b="1" u="sng" dirty="0">
                <a:solidFill>
                  <a:schemeClr val="bg1"/>
                </a:solidFill>
              </a:rPr>
              <a:t>Accelerate Decision-Making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Deliver real-time, actionable insights to decision-makers across sales, marketing and support functions.</a:t>
            </a:r>
          </a:p>
          <a:p>
            <a:pPr fontAlgn="ctr"/>
            <a:endParaRPr lang="en-IN" sz="1600" dirty="0">
              <a:solidFill>
                <a:schemeClr val="bg1"/>
              </a:solidFill>
            </a:endParaRPr>
          </a:p>
          <a:p>
            <a:pPr fontAlgn="ctr"/>
            <a:r>
              <a:rPr lang="en-US" sz="1600" b="1" u="sng" dirty="0">
                <a:solidFill>
                  <a:schemeClr val="bg1"/>
                </a:solidFill>
              </a:rPr>
              <a:t>Unify Omnichannel Performance Visibility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Integrate sales, customer, campaign and support data from offline and online channels into one platform.</a:t>
            </a:r>
          </a:p>
          <a:p>
            <a:pPr fontAlgn="ctr"/>
            <a:endParaRPr lang="en-IN" sz="1600" dirty="0">
              <a:solidFill>
                <a:schemeClr val="bg1"/>
              </a:solidFill>
            </a:endParaRPr>
          </a:p>
          <a:p>
            <a:pPr fontAlgn="ctr"/>
            <a:r>
              <a:rPr lang="en-US" sz="1600" b="1" u="sng" dirty="0">
                <a:solidFill>
                  <a:schemeClr val="bg1"/>
                </a:solidFill>
              </a:rPr>
              <a:t>Enhance Customer Engagement &amp; Retention</a:t>
            </a:r>
            <a:br>
              <a:rPr lang="en-US" sz="1600" u="sng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Track churn, campaign responses and SLA metric, CSS to improve satisfaction and loyalty.</a:t>
            </a:r>
          </a:p>
          <a:p>
            <a:pPr fontAlgn="ctr"/>
            <a:endParaRPr lang="en-IN" sz="1600" dirty="0">
              <a:solidFill>
                <a:schemeClr val="bg1"/>
              </a:solidFill>
            </a:endParaRPr>
          </a:p>
          <a:p>
            <a:pPr fontAlgn="ctr"/>
            <a:r>
              <a:rPr lang="en-US" sz="1600" b="1" u="sng" dirty="0">
                <a:solidFill>
                  <a:schemeClr val="bg1"/>
                </a:solidFill>
              </a:rPr>
              <a:t>Foster Accountability Through Role-Based Reporting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Provide tailored dashboards with access control for executives, managers, analysts and support teams.</a:t>
            </a:r>
          </a:p>
          <a:p>
            <a:pPr fontAlgn="ctr"/>
            <a:endParaRPr lang="en-IN" sz="1600" dirty="0">
              <a:solidFill>
                <a:schemeClr val="bg1"/>
              </a:solidFill>
            </a:endParaRPr>
          </a:p>
          <a:p>
            <a:pPr fontAlgn="ctr"/>
            <a:r>
              <a:rPr lang="en-US" sz="1600" b="1" u="sng" dirty="0">
                <a:solidFill>
                  <a:schemeClr val="bg1"/>
                </a:solidFill>
              </a:rPr>
              <a:t>Support Operational Efficiency and Data Trust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Replace manual reports with automated, validated dashboards powered by SQL and Power BI.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BBD0F-AC69-AA16-FD31-AA1CE0D217FE}"/>
              </a:ext>
            </a:extLst>
          </p:cNvPr>
          <p:cNvSpPr txBox="1"/>
          <p:nvPr/>
        </p:nvSpPr>
        <p:spPr>
          <a:xfrm>
            <a:off x="5202306" y="767763"/>
            <a:ext cx="2861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Business Objective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E99346-0F8E-77A5-C4D2-AD4335D7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320" y="1598670"/>
            <a:ext cx="694477" cy="69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9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BB591-FB92-3840-340D-78D055EF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6B2E9FFD-04F5-F73D-2572-B69895022D78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124279-DCDC-B2D7-F428-BA348CB11027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5E9569-FD61-88DE-0443-70E6DF451518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57B58-DF1F-BDFF-B9E1-7276F9A1D4BB}"/>
              </a:ext>
            </a:extLst>
          </p:cNvPr>
          <p:cNvSpPr txBox="1"/>
          <p:nvPr/>
        </p:nvSpPr>
        <p:spPr>
          <a:xfrm>
            <a:off x="-1" y="0"/>
            <a:ext cx="546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Data Source and Processing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2DED4-3856-9CF5-29DC-0B0E0F056A03}"/>
              </a:ext>
            </a:extLst>
          </p:cNvPr>
          <p:cNvSpPr txBox="1"/>
          <p:nvPr/>
        </p:nvSpPr>
        <p:spPr>
          <a:xfrm>
            <a:off x="709446" y="962142"/>
            <a:ext cx="52590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4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cs typeface="Arial" panose="020B0604020202020204" pitchFamily="34" charset="0"/>
              </a:rPr>
              <a:t>About the Source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>
                <a:cs typeface="Arial" panose="020B0604020202020204" pitchFamily="34" charset="0"/>
              </a:rPr>
              <a:t>The dataset was sourced from </a:t>
            </a:r>
            <a:r>
              <a:rPr lang="en-US" b="1" dirty="0">
                <a:cs typeface="Arial" panose="020B0604020202020204" pitchFamily="34" charset="0"/>
              </a:rPr>
              <a:t>Kaggle </a:t>
            </a:r>
            <a:r>
              <a:rPr lang="en-US" dirty="0">
                <a:cs typeface="Arial" panose="020B0604020202020204" pitchFamily="34" charset="0"/>
              </a:rPr>
              <a:t>website, a popular platform for hosting datasets.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/>
              <a:t>Kaggle hosts a wide range of community-contributed datasets, making it a valuable resource for analysis projects.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dirty="0"/>
              <a:t>This dataset contains fictional or sample retail data gathered from various sources within a retail business environment.</a:t>
            </a:r>
          </a:p>
          <a:p>
            <a:pPr marL="0" indent="0">
              <a:buNone/>
            </a:pPr>
            <a:endParaRPr lang="en-IN" sz="18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Description of the Dataset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FF00"/>
                </a:solidFill>
              </a:rPr>
              <a:t>(Click Hyperlink texts below to know more)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Source: </a:t>
            </a:r>
            <a:r>
              <a:rPr lang="en-IN" b="1" dirty="0"/>
              <a:t>Kaggle</a:t>
            </a:r>
            <a:r>
              <a:rPr lang="en-IN" dirty="0"/>
              <a:t> </a:t>
            </a:r>
            <a:r>
              <a:rPr lang="en-IN" b="1" dirty="0"/>
              <a:t>-</a:t>
            </a:r>
            <a:r>
              <a:rPr lang="en-IN" dirty="0"/>
              <a:t> </a:t>
            </a:r>
            <a:r>
              <a:rPr lang="en-IN" sz="1400" dirty="0">
                <a:solidFill>
                  <a:srgbClr val="F8BAF1"/>
                </a:solidFill>
              </a:rPr>
              <a:t>🔗</a:t>
            </a:r>
            <a:r>
              <a:rPr lang="en-IN" dirty="0">
                <a:solidFill>
                  <a:srgbClr val="F8BAF1"/>
                </a:solidFill>
              </a:rPr>
              <a:t> </a:t>
            </a:r>
            <a:r>
              <a:rPr lang="en-IN" b="1" i="1" dirty="0">
                <a:solidFill>
                  <a:srgbClr val="F8BAF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Retail Customer &amp; Transaction Dataset</a:t>
            </a:r>
            <a:endParaRPr lang="en-IN" i="1" dirty="0">
              <a:solidFill>
                <a:srgbClr val="F8BAF1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Period Covered: March 2020  -  March 2025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Files Used:</a:t>
            </a: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F8BAF1"/>
                </a:solidFill>
              </a:rPr>
              <a:t>🔗</a:t>
            </a:r>
            <a:r>
              <a:rPr lang="en-IN" sz="1600" dirty="0">
                <a:solidFill>
                  <a:srgbClr val="F8BAF1"/>
                </a:solidFill>
              </a:rPr>
              <a:t> </a:t>
            </a:r>
            <a:r>
              <a:rPr lang="en-IN" sz="1600" i="1" dirty="0">
                <a:solidFill>
                  <a:srgbClr val="F8BAF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Customers</a:t>
            </a:r>
            <a:endParaRPr lang="en-IN" sz="1600" i="1" dirty="0">
              <a:solidFill>
                <a:srgbClr val="F8BAF1"/>
              </a:solidFill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F8BAF1"/>
                </a:solidFill>
              </a:rPr>
              <a:t>🔗</a:t>
            </a:r>
            <a:r>
              <a:rPr lang="en-IN" sz="1600" dirty="0">
                <a:solidFill>
                  <a:srgbClr val="F8BAF1"/>
                </a:solidFill>
              </a:rPr>
              <a:t> </a:t>
            </a:r>
            <a:r>
              <a:rPr lang="en-IN" sz="1600" i="1" dirty="0">
                <a:solidFill>
                  <a:srgbClr val="F8BAF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Transactions</a:t>
            </a:r>
            <a:endParaRPr lang="en-IN" sz="1600" i="1" dirty="0">
              <a:solidFill>
                <a:srgbClr val="F8BAF1"/>
              </a:solidFill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F8BAF1"/>
                </a:solidFill>
              </a:rPr>
              <a:t>🔗</a:t>
            </a:r>
            <a:r>
              <a:rPr lang="en-IN" sz="1600" dirty="0">
                <a:solidFill>
                  <a:srgbClr val="F8BAF1"/>
                </a:solidFill>
              </a:rPr>
              <a:t> </a:t>
            </a:r>
            <a:r>
              <a:rPr lang="en-IN" sz="1600" i="1" dirty="0">
                <a:solidFill>
                  <a:srgbClr val="F8BAF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Interactions</a:t>
            </a:r>
            <a:endParaRPr lang="en-IN" sz="1600" i="1" dirty="0">
              <a:solidFill>
                <a:srgbClr val="F8BAF1"/>
              </a:solidFill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F8BAF1"/>
                </a:solidFill>
              </a:rPr>
              <a:t>🔗</a:t>
            </a:r>
            <a:r>
              <a:rPr lang="en-IN" sz="1600" dirty="0">
                <a:solidFill>
                  <a:srgbClr val="F8BAF1"/>
                </a:solidFill>
              </a:rPr>
              <a:t> </a:t>
            </a:r>
            <a:r>
              <a:rPr lang="en-IN" sz="1600" i="1" dirty="0">
                <a:solidFill>
                  <a:srgbClr val="F8BAF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Campaigns</a:t>
            </a:r>
            <a:endParaRPr lang="en-IN" sz="1600" i="1" dirty="0">
              <a:solidFill>
                <a:srgbClr val="F8BAF1"/>
              </a:solidFill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F8BAF1"/>
                </a:solidFill>
              </a:rPr>
              <a:t>🔗</a:t>
            </a:r>
            <a:r>
              <a:rPr lang="en-IN" sz="1600" dirty="0">
                <a:solidFill>
                  <a:srgbClr val="F8BAF1"/>
                </a:solidFill>
              </a:rPr>
              <a:t> </a:t>
            </a:r>
            <a:r>
              <a:rPr lang="en-IN" sz="1600" i="1" dirty="0">
                <a:solidFill>
                  <a:srgbClr val="F8BAF1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reviews</a:t>
            </a:r>
            <a:endParaRPr lang="en-IN" sz="1600" i="1" dirty="0">
              <a:solidFill>
                <a:srgbClr val="F8BAF1"/>
              </a:solidFill>
            </a:endParaRPr>
          </a:p>
          <a:p>
            <a:pPr lvl="2" indent="-285750">
              <a:buFont typeface="Wingdings" panose="05000000000000000000" pitchFamily="2" charset="2"/>
              <a:buChar char="Ø"/>
            </a:pPr>
            <a:r>
              <a:rPr lang="en-IN" sz="1400" dirty="0">
                <a:solidFill>
                  <a:srgbClr val="F8BAF1"/>
                </a:solidFill>
              </a:rPr>
              <a:t>🔗 </a:t>
            </a:r>
            <a:r>
              <a:rPr lang="en-IN" sz="1600" i="1" dirty="0">
                <a:solidFill>
                  <a:srgbClr val="F8BAF1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 tickets</a:t>
            </a:r>
            <a:endParaRPr lang="en-IN" sz="1600" i="1" dirty="0">
              <a:solidFill>
                <a:srgbClr val="F8BAF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77563-C8CC-3E11-D466-AEC3A9401447}"/>
              </a:ext>
            </a:extLst>
          </p:cNvPr>
          <p:cNvSpPr txBox="1"/>
          <p:nvPr/>
        </p:nvSpPr>
        <p:spPr>
          <a:xfrm>
            <a:off x="6648727" y="962142"/>
            <a:ext cx="52590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4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Data Preparation &amp; Processing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Verified file structures and column definitions in Excel.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Checked quality: minor missing values (e.g., phone, discounts), assumed all amounts in </a:t>
            </a:r>
            <a:r>
              <a:rPr lang="en-IN" b="1" dirty="0"/>
              <a:t>USD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Imported datasets into </a:t>
            </a:r>
            <a:r>
              <a:rPr lang="en-IN" b="1" dirty="0"/>
              <a:t>MySQL</a:t>
            </a:r>
            <a:r>
              <a:rPr lang="en-IN" dirty="0"/>
              <a:t> for structured cleaning and transformation.</a:t>
            </a:r>
          </a:p>
          <a:p>
            <a:pPr marL="0" indent="0">
              <a:buNone/>
            </a:pP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Data Cleaning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Fixed missing values (dates, budget, ratings, product names).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Removed duplicates (customer_id, emails).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Validated formats (emails, phone numbers, names).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Flagged orphan records; identified outliers in age, prices, satisfaction scores.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Standardized store location (City/State).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Standardized categorical values (e.g., store location formats).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Recalculated and validated campaign KPIs.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D5FBB2-A415-052E-7190-E9AC845B3F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6" y="959543"/>
            <a:ext cx="568532" cy="568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A7E226-62C3-FF21-C0ED-AAB81F2602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7" y="3722963"/>
            <a:ext cx="432574" cy="4325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FDB34F-FFAC-7C13-6291-A4FD1D01C7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43" y="970301"/>
            <a:ext cx="432574" cy="4325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D113FF-B5A4-5A1D-83B8-1713E9BD8C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502" y="2806677"/>
            <a:ext cx="568533" cy="5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3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595DB-E1C0-7123-6840-44E83E55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A47FC916-0B61-482B-23CE-838833313BE5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F9EF08-2C1B-246C-A864-671D5C064375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29B4F8D-8685-9358-2951-42B8A243BEA1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449C5-639D-BC85-508F-F651C6473F63}"/>
              </a:ext>
            </a:extLst>
          </p:cNvPr>
          <p:cNvSpPr txBox="1"/>
          <p:nvPr/>
        </p:nvSpPr>
        <p:spPr>
          <a:xfrm>
            <a:off x="-2" y="0"/>
            <a:ext cx="6347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Workflow and Approach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45598-D8A8-1506-272A-8A19C37EAFD7}"/>
              </a:ext>
            </a:extLst>
          </p:cNvPr>
          <p:cNvSpPr txBox="1"/>
          <p:nvPr/>
        </p:nvSpPr>
        <p:spPr>
          <a:xfrm>
            <a:off x="736191" y="782872"/>
            <a:ext cx="520203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1. Requirement Gathering</a:t>
            </a:r>
            <a:endParaRPr lang="en-IN" sz="1800" dirty="0">
              <a:solidFill>
                <a:srgbClr val="FFFF00"/>
              </a:solidFill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Created sample ‘Business Request Email’ format to identify reporting needs.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2. Business Requirement Document (BRD)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Documented objectives, scope, KPIs, functional/non-functional requirements, success criteria, gap analysis.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Created User Stories and Use Cases.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3. Process Mapping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Designed current state and future state process flows using </a:t>
            </a:r>
            <a:r>
              <a:rPr lang="en-IN" b="1" i="1" dirty="0"/>
              <a:t>Lucidchart.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4. Wireframes &amp; Layout Planning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Built interactive dashboard wireframes in </a:t>
            </a:r>
            <a:r>
              <a:rPr lang="en-IN" b="1" i="1" dirty="0"/>
              <a:t>Balsamiq</a:t>
            </a:r>
            <a:r>
              <a:rPr lang="en-IN" dirty="0"/>
              <a:t> (summary, overview, revenue, products, customers, campaigns, support tickets).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5. Analysis Question Framework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Developed 26 key analysis questions covering revenue, products, customers, campaigns and support operations to guide SQL development.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3EEC95-17E9-684E-6C1A-1194E53DC58C}"/>
              </a:ext>
            </a:extLst>
          </p:cNvPr>
          <p:cNvSpPr txBox="1"/>
          <p:nvPr/>
        </p:nvSpPr>
        <p:spPr>
          <a:xfrm>
            <a:off x="6675472" y="788999"/>
            <a:ext cx="520203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6. Data Preparation </a:t>
            </a:r>
            <a:r>
              <a:rPr lang="en-IN" b="1" i="1" dirty="0">
                <a:solidFill>
                  <a:srgbClr val="FFFF00"/>
                </a:solidFill>
              </a:rPr>
              <a:t>(see “Data Source” slide for details)</a:t>
            </a:r>
            <a:endParaRPr lang="en-IN" b="1" dirty="0">
              <a:solidFill>
                <a:srgbClr val="FFFF00"/>
              </a:solidFill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Performed data cleaning, transformation and validation from multiple CSV files.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7. SQL Development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Wrote 26 targeted SQL queries aligned with the analysis questions and KPIs.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8. Power BI Dashboard Development</a:t>
            </a:r>
            <a:endParaRPr lang="en-US" sz="1800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Imported cleaned datasets and applied data modelling best practices.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Created DAX measures for KPIs and custom calculations.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Designed interactive filters, slicers and drill-throughs.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Applied conditional formatting and visual-level filters to highlight trends.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9. UAT (User Acceptance Testing)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Created UAT plan, test cases, defect tracker, traceability matrix and sign-off.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10. Delivery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Delivered final dashboard/report with supporting documentation.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DC2BDE-4BB7-B63E-DB8A-4627B4CBC6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09" y="788999"/>
            <a:ext cx="505116" cy="5051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A8F0DC-7334-2A38-9943-E82A90AD85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79" y="1851516"/>
            <a:ext cx="472841" cy="4728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7268EA-F9D6-CE10-E23E-5AC0061521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75" y="3081591"/>
            <a:ext cx="505115" cy="5051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7F3A68-528E-0B75-9B97-63FBC59D80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0" y="4091382"/>
            <a:ext cx="505116" cy="50511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9E2060-0373-B2ED-9039-ADF0317AE3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56" y="5356400"/>
            <a:ext cx="513199" cy="5131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663554-7455-E8B2-17BB-0E24EA0276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593" y="757290"/>
            <a:ext cx="568533" cy="5685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80C6BAF-DBBA-F355-AF9B-6AB9DB2628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120" y="1869388"/>
            <a:ext cx="406100" cy="406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148F7B5-DAEE-276C-6465-70EEF9CE0D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328" y="2848766"/>
            <a:ext cx="524094" cy="52409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6A49AAC-E93F-0AD2-5CE4-F25BD46AA0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106" y="4788179"/>
            <a:ext cx="508313" cy="50831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D6BEEDF-2857-31DA-142E-65599D3981E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317" y="5885551"/>
            <a:ext cx="529632" cy="52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0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DD1D6-99F5-7899-167C-987F89AE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DDD4F21-B823-F787-0B0E-F045C7AA62A6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ADC186-630C-1A53-57C2-8B6014533102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772AB4B-4E94-9A32-3F09-61C1401801D3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C796C-5D71-92B9-D4A9-3E2E0FDA8C0A}"/>
              </a:ext>
            </a:extLst>
          </p:cNvPr>
          <p:cNvSpPr txBox="1"/>
          <p:nvPr/>
        </p:nvSpPr>
        <p:spPr>
          <a:xfrm>
            <a:off x="-2" y="0"/>
            <a:ext cx="3108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Tools Used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7BDDD-5AF1-4FA4-9E51-A7105ECD2EEA}"/>
              </a:ext>
            </a:extLst>
          </p:cNvPr>
          <p:cNvSpPr txBox="1"/>
          <p:nvPr/>
        </p:nvSpPr>
        <p:spPr>
          <a:xfrm>
            <a:off x="736191" y="1359152"/>
            <a:ext cx="520203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Data Storage &amp; Processing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MySQL</a:t>
            </a:r>
            <a:r>
              <a:rPr lang="en-IN" dirty="0"/>
              <a:t>  -  Structured database creation, SQL-based cleaning, transformations and KPI mapping.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Excel</a:t>
            </a:r>
            <a:r>
              <a:rPr lang="en-IN" dirty="0"/>
              <a:t>  -  Initial column verification, quick data quality checks and exploratory profiling.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Wireframing &amp; Design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Balsamiq</a:t>
            </a:r>
            <a:r>
              <a:rPr lang="en-IN" dirty="0"/>
              <a:t>  -  Created low-fidelity dashboard wireframes for Summary, Overview, Revenue, Products, Customers, Campaigns and Support pages.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Process Modelling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Lucidchart</a:t>
            </a:r>
            <a:r>
              <a:rPr lang="en-IN" dirty="0"/>
              <a:t>  -  Designed </a:t>
            </a:r>
            <a:r>
              <a:rPr lang="en-IN" i="1" dirty="0"/>
              <a:t>Current-state (As-is)</a:t>
            </a:r>
            <a:r>
              <a:rPr lang="en-IN" dirty="0"/>
              <a:t> and </a:t>
            </a:r>
            <a:r>
              <a:rPr lang="en-IN" i="1" dirty="0"/>
              <a:t>Future-state (To-be) </a:t>
            </a:r>
            <a:r>
              <a:rPr lang="en-IN" dirty="0"/>
              <a:t>process flow diagrams to visualize reporting workflows.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06A905-BEC9-CFF7-9C77-162D4547BB0F}"/>
              </a:ext>
            </a:extLst>
          </p:cNvPr>
          <p:cNvSpPr txBox="1"/>
          <p:nvPr/>
        </p:nvSpPr>
        <p:spPr>
          <a:xfrm>
            <a:off x="6675472" y="1369910"/>
            <a:ext cx="520203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Data Visualization &amp; Reporting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Power BI  </a:t>
            </a:r>
            <a:r>
              <a:rPr lang="en-US" dirty="0"/>
              <a:t>-  Built interactive dashboards, applied DAX measures and developed page-level KPIs with slicers/filters for drill-downs.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Documentation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MS Word  </a:t>
            </a:r>
            <a:r>
              <a:rPr lang="en-US" dirty="0"/>
              <a:t>-  Sample Business Request Email, Business Requirements Document (BRD)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MS Excel  </a:t>
            </a:r>
            <a:r>
              <a:rPr lang="en-US" dirty="0"/>
              <a:t>-  UAT plans, Test Cases, Defect Tracking.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MS PowerPoint  </a:t>
            </a:r>
            <a:r>
              <a:rPr lang="en-US" dirty="0"/>
              <a:t>-  Executive presentation of insights and recommendations.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98E748-537F-30E9-CACB-80D2DE9F6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90" y="1625491"/>
            <a:ext cx="332401" cy="332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58A2F8-4924-3E70-C504-873987791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89" y="2133335"/>
            <a:ext cx="332401" cy="3324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CCFA90-1FB6-CB59-A039-8493805EAA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76" y="3578670"/>
            <a:ext cx="356814" cy="4238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3D9218-8855-A8F7-D48B-19B2C841C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63" y="5319685"/>
            <a:ext cx="352144" cy="3832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4FEBF8-C180-3CA2-127B-9C96A37C9E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579" y="4192883"/>
            <a:ext cx="332403" cy="3324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E9347E-8D1E-11B8-5231-468F35F055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795" y="3412469"/>
            <a:ext cx="332402" cy="33240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456E6D-0F50-CBCB-B381-08946B2700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332" y="1607421"/>
            <a:ext cx="447289" cy="4472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FAC2C94-B801-2B58-FAF5-AAE7CD6069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251" y="3836302"/>
            <a:ext cx="332401" cy="33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8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09BE3-20F8-8E42-5C75-499E7BC8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8824F4-DE32-71A5-7D59-E338916902BA}"/>
              </a:ext>
            </a:extLst>
          </p:cNvPr>
          <p:cNvSpPr txBox="1"/>
          <p:nvPr/>
        </p:nvSpPr>
        <p:spPr>
          <a:xfrm>
            <a:off x="0" y="0"/>
            <a:ext cx="476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Key Insights</a:t>
            </a:r>
            <a:endParaRPr lang="en-IN" sz="3600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8D428E7-855C-1A2F-4EA7-FF5B35F93985}"/>
              </a:ext>
            </a:extLst>
          </p:cNvPr>
          <p:cNvSpPr/>
          <p:nvPr/>
        </p:nvSpPr>
        <p:spPr>
          <a:xfrm>
            <a:off x="99402" y="752060"/>
            <a:ext cx="6607386" cy="6002594"/>
          </a:xfrm>
          <a:prstGeom prst="roundRect">
            <a:avLst>
              <a:gd name="adj" fmla="val 2698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E7DFC3-2C51-700D-F33F-5F407BC08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08281"/>
              </p:ext>
            </p:extLst>
          </p:nvPr>
        </p:nvGraphicFramePr>
        <p:xfrm>
          <a:off x="905903" y="1320757"/>
          <a:ext cx="5630664" cy="52022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0664">
                  <a:extLst>
                    <a:ext uri="{9D8B030D-6E8A-4147-A177-3AD203B41FA5}">
                      <a16:colId xmlns:a16="http://schemas.microsoft.com/office/drawing/2014/main" val="2837359114"/>
                    </a:ext>
                  </a:extLst>
                </a:gridCol>
              </a:tblGrid>
              <a:tr h="98817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Gross Revenue before discounts was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$27.79M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with total discounts reducing it by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$0.24M,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resulting in a net revenue of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$27.55M</a:t>
                      </a: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0824206"/>
                  </a:ext>
                </a:extLst>
              </a:tr>
              <a:tr h="69538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Net revenue generated is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$27.55M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with 'Furniture' category contributing the highest share of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$6.1M</a:t>
                      </a: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9755778"/>
                  </a:ext>
                </a:extLst>
              </a:tr>
              <a:tr h="84693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'Google Nest' is the best-selling item with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1,359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units sold, while 'Sheets' leads in quality with an average rating of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5.0</a:t>
                      </a: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4687148"/>
                  </a:ext>
                </a:extLst>
              </a:tr>
              <a:tr h="69538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'California' state leads with the highest customer base of 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873</a:t>
                      </a: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 individuals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out of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5,000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total customers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4182892"/>
                  </a:ext>
                </a:extLst>
              </a:tr>
              <a:tr h="98817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'Search Engine Marketing' campaigns delivered the highest ROI of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$162.64k,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with top performance seen in the 'Home Improvement' audience segment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2443399"/>
                  </a:ext>
                </a:extLst>
              </a:tr>
              <a:tr h="98817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'Shipping' was the most reported issue type, with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436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tickets raised,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379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of them were resolved, averaging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37.67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hours to close and a customer satisfaction score of 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3.52</a:t>
                      </a:r>
                      <a:endParaRPr lang="en-IN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183939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EED4EFF-EF2B-3F1F-58B1-7821278154AE}"/>
              </a:ext>
            </a:extLst>
          </p:cNvPr>
          <p:cNvSpPr txBox="1"/>
          <p:nvPr/>
        </p:nvSpPr>
        <p:spPr>
          <a:xfrm>
            <a:off x="194120" y="781200"/>
            <a:ext cx="3934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Overview</a:t>
            </a:r>
            <a:endParaRPr lang="en-US" sz="1600" dirty="0">
              <a:solidFill>
                <a:srgbClr val="FFFF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234E42-98DC-A564-8E2B-4274A8C38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08" y="1498056"/>
            <a:ext cx="461665" cy="4616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AF5A663-7EEB-8DF2-FB53-DAC1FE2B7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2" y="4727955"/>
            <a:ext cx="504000" cy="504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2A4AEE1-95C0-CEEA-9AA9-CD09ED09E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82" y="5739180"/>
            <a:ext cx="396000" cy="39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413B6F-0A61-973B-EFEC-8C77199DD0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66" y="3936343"/>
            <a:ext cx="432000" cy="43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57D117-20CE-3F49-4ED8-DE60660019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08" y="2323933"/>
            <a:ext cx="504000" cy="504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D5C340-F762-589A-B53C-5896DCA425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08" y="3131334"/>
            <a:ext cx="584931" cy="58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9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A39A7-6706-38C1-11A6-39057544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54714E07-D253-3B56-297D-1E9B0B295F87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1A7282-962F-7BBC-91FE-4367830FA169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592299-215A-0C53-E195-F4A835BEE761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7B8CB3-DD60-0BB7-7C97-DD84B95006E8}"/>
              </a:ext>
            </a:extLst>
          </p:cNvPr>
          <p:cNvSpPr txBox="1"/>
          <p:nvPr/>
        </p:nvSpPr>
        <p:spPr>
          <a:xfrm>
            <a:off x="701685" y="843998"/>
            <a:ext cx="530126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Overall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Gross Revenue - </a:t>
            </a:r>
            <a:r>
              <a:rPr lang="en-US" b="1" dirty="0"/>
              <a:t>$27.79M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Net Revenue - </a:t>
            </a:r>
            <a:r>
              <a:rPr lang="en-US" b="1" dirty="0"/>
              <a:t>$27.55M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Discounts Applied - </a:t>
            </a:r>
            <a:r>
              <a:rPr lang="en-US" b="1" dirty="0"/>
              <a:t>$240.77K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Discount Margin - </a:t>
            </a:r>
            <a:r>
              <a:rPr lang="en-US" b="1" dirty="0"/>
              <a:t>0.87%,</a:t>
            </a:r>
            <a:r>
              <a:rPr lang="en-US" dirty="0"/>
              <a:t> indicating a value-preserving pricing strategy rather than heavy discounting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Net Revenue Trends Over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Strong YoY growth from 2020 to 2024, driven by post-COVID recovery and digital expansion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Revenue growth peaked at </a:t>
            </a:r>
            <a:r>
              <a:rPr lang="en-US" b="1" dirty="0"/>
              <a:t>+231% </a:t>
            </a:r>
            <a:r>
              <a:rPr lang="en-US" dirty="0"/>
              <a:t>in 2021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</a:t>
            </a:r>
            <a:r>
              <a:rPr lang="en-US" b="1" dirty="0"/>
              <a:t>-87% </a:t>
            </a:r>
            <a:r>
              <a:rPr lang="en-US" dirty="0"/>
              <a:t>dip in 2025 is due to partial-year data (Jan-Mar) and is not reflective of performance decline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Seasonal Sales Highlights</a:t>
            </a:r>
            <a:endParaRPr lang="en-US" sz="1800" b="1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Peak sales months were November </a:t>
            </a:r>
            <a:r>
              <a:rPr lang="en-IN" b="1" dirty="0"/>
              <a:t>$3.71M </a:t>
            </a:r>
            <a:r>
              <a:rPr lang="en-IN" dirty="0"/>
              <a:t>and December </a:t>
            </a:r>
            <a:r>
              <a:rPr lang="en-IN" b="1" dirty="0"/>
              <a:t>$3.79M,</a:t>
            </a:r>
            <a:r>
              <a:rPr lang="en-IN" dirty="0"/>
              <a:t> highlighting strong holiday seasonality.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Top Payment Channel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‘Credit Card’ was the leading method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Revenue -  </a:t>
            </a:r>
            <a:r>
              <a:rPr lang="en-US" sz="1600" b="1" dirty="0">
                <a:solidFill>
                  <a:schemeClr val="bg1"/>
                </a:solidFill>
              </a:rPr>
              <a:t>$9.38M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Transactions -  </a:t>
            </a:r>
            <a:r>
              <a:rPr lang="en-US" sz="1600" b="1" dirty="0">
                <a:solidFill>
                  <a:schemeClr val="bg1"/>
                </a:solidFill>
              </a:rPr>
              <a:t>10,907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89B19-2D1E-7D5B-DAAE-A78337DE7997}"/>
              </a:ext>
            </a:extLst>
          </p:cNvPr>
          <p:cNvSpPr txBox="1"/>
          <p:nvPr/>
        </p:nvSpPr>
        <p:spPr>
          <a:xfrm>
            <a:off x="6640179" y="1082535"/>
            <a:ext cx="5284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Revenue by Channel &amp; State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u="sng" dirty="0"/>
              <a:t>Online Channel</a:t>
            </a:r>
            <a:endParaRPr lang="en-US" u="sng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</a:rPr>
              <a:t>Revenue -  </a:t>
            </a:r>
            <a:r>
              <a:rPr lang="en-IN" sz="1600" b="1" dirty="0">
                <a:solidFill>
                  <a:schemeClr val="bg1"/>
                </a:solidFill>
              </a:rPr>
              <a:t>$13.97M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5× higher than any single physical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u="sng" dirty="0"/>
              <a:t>California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</a:rPr>
              <a:t>Revenue -  </a:t>
            </a:r>
            <a:r>
              <a:rPr lang="en-IN" sz="1600" b="1" dirty="0">
                <a:solidFill>
                  <a:schemeClr val="bg1"/>
                </a:solidFill>
              </a:rPr>
              <a:t>$2.66M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</a:rPr>
              <a:t>Top Performing Region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Top Product Categories by Revenue</a:t>
            </a:r>
            <a:endParaRPr lang="en-IN" sz="1800" b="1" dirty="0">
              <a:solidFill>
                <a:srgbClr val="FFFF00"/>
              </a:solidFill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Furniture -  </a:t>
            </a:r>
            <a:r>
              <a:rPr lang="en-US" b="1" dirty="0"/>
              <a:t>$6.13M</a:t>
            </a:r>
            <a:endParaRPr lang="en-IN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Smartphones -  </a:t>
            </a:r>
            <a:r>
              <a:rPr lang="en-US" b="1" dirty="0"/>
              <a:t>$4.94M</a:t>
            </a:r>
            <a:endParaRPr lang="en-IN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Laptops -  </a:t>
            </a:r>
            <a:r>
              <a:rPr lang="en-US" b="1" dirty="0"/>
              <a:t>$3.94M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TVs - </a:t>
            </a:r>
            <a:r>
              <a:rPr lang="en-US" b="1" dirty="0"/>
              <a:t>$3.25M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dirty="0"/>
              <a:t>Kitchen Appliances - </a:t>
            </a:r>
            <a:r>
              <a:rPr lang="en-US" b="1" dirty="0"/>
              <a:t>$2.91M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en-US" b="1" dirty="0"/>
          </a:p>
          <a:p>
            <a:pPr marL="0" lv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Best-Selling Individual Products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Bed Frame - </a:t>
            </a:r>
            <a:r>
              <a:rPr lang="en-IN" b="1" dirty="0"/>
              <a:t>$1.37M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Office Desk - </a:t>
            </a:r>
            <a:r>
              <a:rPr lang="en-IN" b="1" dirty="0"/>
              <a:t>$1.22M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Sofa - </a:t>
            </a:r>
            <a:r>
              <a:rPr lang="en-IN" b="1" dirty="0"/>
              <a:t>$1.21M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Bookshelf - </a:t>
            </a:r>
            <a:r>
              <a:rPr lang="en-IN" b="1" dirty="0"/>
              <a:t>$1.21M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Dining Table - </a:t>
            </a:r>
            <a:r>
              <a:rPr lang="en-IN" b="1" dirty="0"/>
              <a:t>$1.08M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336EAE-035D-C550-52F9-FF15B2C60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6" y="854071"/>
            <a:ext cx="409116" cy="4091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776B5CC-DE5C-B077-6372-B515E2D45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992" y="3075523"/>
            <a:ext cx="518969" cy="5189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561004-41DA-43B7-23F9-2CF8FC95AA93}"/>
              </a:ext>
            </a:extLst>
          </p:cNvPr>
          <p:cNvSpPr txBox="1"/>
          <p:nvPr/>
        </p:nvSpPr>
        <p:spPr>
          <a:xfrm>
            <a:off x="-2" y="0"/>
            <a:ext cx="7788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Revenue Insights |</a:t>
            </a:r>
            <a:r>
              <a:rPr lang="en-US" sz="24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 </a:t>
            </a:r>
            <a:r>
              <a:rPr lang="en-US" sz="2400" b="1" dirty="0">
                <a:solidFill>
                  <a:srgbClr val="FFFF00"/>
                </a:solidFill>
              </a:rPr>
              <a:t>Where the Money Flows</a:t>
            </a:r>
            <a:endParaRPr lang="en-IN" sz="2400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0B3958-65FB-E9B4-4B36-0419D135AC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063" y="4750244"/>
            <a:ext cx="447843" cy="447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8B5E6A-255F-08EA-22C9-5257963B7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211" y="1103985"/>
            <a:ext cx="485750" cy="485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2C6CB2-6317-CB7B-6888-2FFF998662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69" y="2572284"/>
            <a:ext cx="444584" cy="4445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122AD4-9043-B892-E053-43F7DF90C5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93" y="4296447"/>
            <a:ext cx="621550" cy="6215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156F65-82F3-8D72-956F-B2707B6DAF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9" y="5377603"/>
            <a:ext cx="537009" cy="53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3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50BB2-8AA3-1183-2538-F1C104101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4466978A-B8B7-64BA-D5F2-3252D71DE749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ACF295-8A90-2C9D-5315-5C3ECF4CECFB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2D3350-3104-33D5-40DE-136806C6FC65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B00A02-7484-4184-9234-5A7510FCDBD0}"/>
              </a:ext>
            </a:extLst>
          </p:cNvPr>
          <p:cNvSpPr txBox="1"/>
          <p:nvPr/>
        </p:nvSpPr>
        <p:spPr>
          <a:xfrm>
            <a:off x="701685" y="843998"/>
            <a:ext cx="52087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Overall</a:t>
            </a:r>
            <a:endParaRPr lang="en-IN" sz="1800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Total Units Sold - </a:t>
            </a:r>
            <a:r>
              <a:rPr lang="en-IN" b="1" dirty="0"/>
              <a:t>45,532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Average Product Rating - </a:t>
            </a:r>
            <a:r>
              <a:rPr lang="en-IN" b="1" dirty="0"/>
              <a:t>4.0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Avg Product Ratings</a:t>
            </a:r>
            <a:br>
              <a:rPr lang="en-IN" b="1" dirty="0"/>
            </a:br>
            <a:r>
              <a:rPr lang="en-IN" dirty="0">
                <a:solidFill>
                  <a:srgbClr val="FFFF00"/>
                </a:solidFill>
              </a:rPr>
              <a:t>High Rated Products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5.0</a:t>
            </a:r>
            <a:r>
              <a:rPr lang="en-IN" dirty="0"/>
              <a:t> Rating - iMac, Lenovo IdeaCentre, Lenovo Tab, Sheets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4.7</a:t>
            </a:r>
            <a:r>
              <a:rPr lang="en-IN" dirty="0"/>
              <a:t> Rating - Baking Sheet, Cookware Set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4.5</a:t>
            </a:r>
            <a:r>
              <a:rPr lang="en-IN" dirty="0"/>
              <a:t> Rating - Amazon Fire HD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</a:rPr>
              <a:t>Low Rated Products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3.0</a:t>
            </a:r>
            <a:r>
              <a:rPr lang="en-IN" dirty="0"/>
              <a:t> Rating – Knife Set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2.5</a:t>
            </a:r>
            <a:r>
              <a:rPr lang="en-IN" dirty="0"/>
              <a:t> Rating - Cast Iron Skillet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2.0</a:t>
            </a:r>
            <a:r>
              <a:rPr lang="en-IN" dirty="0"/>
              <a:t> Rating - Logitech Mouse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Best-Selling Product Categories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Smart Home Devices - </a:t>
            </a:r>
            <a:r>
              <a:rPr lang="en-US" b="1" dirty="0"/>
              <a:t>6,153</a:t>
            </a:r>
            <a:r>
              <a:rPr lang="en-US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Smartphones - </a:t>
            </a:r>
            <a:r>
              <a:rPr lang="en-US" b="1" dirty="0"/>
              <a:t>6,153</a:t>
            </a:r>
            <a:r>
              <a:rPr lang="en-US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Furniture - </a:t>
            </a:r>
            <a:r>
              <a:rPr lang="en-US" b="1" dirty="0"/>
              <a:t>5,575</a:t>
            </a:r>
            <a:r>
              <a:rPr lang="en-US" dirty="0"/>
              <a:t> units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Home Decor - </a:t>
            </a:r>
            <a:r>
              <a:rPr lang="en-IN" b="1" dirty="0"/>
              <a:t>5,349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Kitchen Appliances - </a:t>
            </a:r>
            <a:r>
              <a:rPr lang="en-IN" b="1" dirty="0"/>
              <a:t>5,255</a:t>
            </a:r>
            <a:r>
              <a:rPr lang="en-IN" dirty="0"/>
              <a:t> units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3ED53-2838-B370-B8B6-4A9D3ED77061}"/>
              </a:ext>
            </a:extLst>
          </p:cNvPr>
          <p:cNvSpPr txBox="1"/>
          <p:nvPr/>
        </p:nvSpPr>
        <p:spPr>
          <a:xfrm>
            <a:off x="6640179" y="843998"/>
            <a:ext cx="52848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Top 10 Products by Quantity Sold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Google Nest - </a:t>
            </a:r>
            <a:r>
              <a:rPr lang="en-IN" b="1" dirty="0"/>
              <a:t>1,359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Xiaomi Mi 12 - </a:t>
            </a:r>
            <a:r>
              <a:rPr lang="en-IN" b="1" dirty="0"/>
              <a:t>1,301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Philips Hue - </a:t>
            </a:r>
            <a:r>
              <a:rPr lang="en-IN" b="1" dirty="0"/>
              <a:t>1,272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iPhone 13 - </a:t>
            </a:r>
            <a:r>
              <a:rPr lang="en-IN" b="1" dirty="0"/>
              <a:t>1,257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OnePlus 10 - </a:t>
            </a:r>
            <a:r>
              <a:rPr lang="en-IN" b="1" dirty="0"/>
              <a:t>1,242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Google Pixel 6 - </a:t>
            </a:r>
            <a:r>
              <a:rPr lang="en-IN" b="1" dirty="0"/>
              <a:t>1,228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Amazon Echo - </a:t>
            </a:r>
            <a:r>
              <a:rPr lang="en-IN" b="1" dirty="0"/>
              <a:t>1,217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Throw Pillows - </a:t>
            </a:r>
            <a:r>
              <a:rPr lang="en-IN" b="1" dirty="0"/>
              <a:t>1,195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Smart Thermostat - </a:t>
            </a:r>
            <a:r>
              <a:rPr lang="en-IN" b="1" dirty="0"/>
              <a:t>1,186</a:t>
            </a:r>
            <a:r>
              <a:rPr lang="en-IN" dirty="0"/>
              <a:t>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Bed Frame - </a:t>
            </a:r>
            <a:r>
              <a:rPr lang="en-IN" b="1" dirty="0"/>
              <a:t>1,167</a:t>
            </a:r>
            <a:r>
              <a:rPr lang="en-IN" dirty="0"/>
              <a:t> units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Revenue vs Discount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Furniture and Smartphones yielded top revenue despite heavier discounts.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Categories with higher net revenue tend to tolerate higher discount levels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First-Time Buyer Counts by Product Category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Smartphones - </a:t>
            </a:r>
            <a:r>
              <a:rPr lang="en-US" b="1" dirty="0"/>
              <a:t>608</a:t>
            </a:r>
            <a:r>
              <a:rPr lang="en-US" dirty="0"/>
              <a:t> buyers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Smart Home Devices - </a:t>
            </a:r>
            <a:r>
              <a:rPr lang="en-US" b="1" dirty="0"/>
              <a:t>600</a:t>
            </a:r>
            <a:r>
              <a:rPr lang="en-US" dirty="0"/>
              <a:t> buyers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Kitchen Appliances - </a:t>
            </a:r>
            <a:r>
              <a:rPr lang="en-US" b="1" dirty="0"/>
              <a:t>529</a:t>
            </a:r>
            <a:r>
              <a:rPr lang="en-US" dirty="0"/>
              <a:t> buyers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Furniture - </a:t>
            </a:r>
            <a:r>
              <a:rPr lang="en-US" b="1" dirty="0"/>
              <a:t>517</a:t>
            </a:r>
            <a:r>
              <a:rPr lang="en-US" dirty="0"/>
              <a:t> buyers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F6C05-366E-7E2F-61F7-CF9CC0A16277}"/>
              </a:ext>
            </a:extLst>
          </p:cNvPr>
          <p:cNvSpPr txBox="1"/>
          <p:nvPr/>
        </p:nvSpPr>
        <p:spPr>
          <a:xfrm>
            <a:off x="-1" y="0"/>
            <a:ext cx="7605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Products Insights | </a:t>
            </a:r>
            <a:r>
              <a:rPr lang="en-US" sz="2400" b="1" dirty="0">
                <a:solidFill>
                  <a:srgbClr val="FFFF00"/>
                </a:solidFill>
              </a:rPr>
              <a:t>What People Bought</a:t>
            </a:r>
            <a:endParaRPr lang="en-IN" sz="2000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B9C58A-3C12-27B2-D7A2-2554D76A7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6" y="854071"/>
            <a:ext cx="409116" cy="4091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F5F014-9314-4839-EB9D-A24F1807C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3" y="2021769"/>
            <a:ext cx="557282" cy="5572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C5D2BC-8CF0-BA75-14E4-2DF8A20C23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3" y="5017544"/>
            <a:ext cx="557282" cy="5572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1EE6A8F-4C6D-B851-B574-0CEED5AC3E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790" y="791704"/>
            <a:ext cx="447843" cy="4478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7BAF640-72BB-F50E-FEA1-3E6F8B4B9C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758" y="3728123"/>
            <a:ext cx="525672" cy="5256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3DF62CC-2410-12DD-58F0-E818E10088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790" y="5225009"/>
            <a:ext cx="519661" cy="51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38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45037-26A2-2F68-A932-2BBC49DB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3316FB44-309C-BCAD-81E3-5F8819FA68AA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A77806-D709-340C-906D-DFDAA7084C47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CAC311-EBC2-9169-6E96-7B7350B64E4B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6C387-4B44-2DA9-A4DA-76D364CB4EDD}"/>
              </a:ext>
            </a:extLst>
          </p:cNvPr>
          <p:cNvSpPr txBox="1"/>
          <p:nvPr/>
        </p:nvSpPr>
        <p:spPr>
          <a:xfrm>
            <a:off x="-1" y="0"/>
            <a:ext cx="6685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Customers Insights | </a:t>
            </a:r>
            <a:r>
              <a:rPr lang="en-US" sz="2400" b="1" dirty="0">
                <a:solidFill>
                  <a:srgbClr val="FFFF00"/>
                </a:solidFill>
              </a:rPr>
              <a:t>Who They Are</a:t>
            </a:r>
            <a:endParaRPr lang="en-IN" sz="2400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B69C1A-6FB1-A59A-0AA5-CBC8E98BF095}"/>
              </a:ext>
            </a:extLst>
          </p:cNvPr>
          <p:cNvSpPr txBox="1"/>
          <p:nvPr/>
        </p:nvSpPr>
        <p:spPr>
          <a:xfrm>
            <a:off x="740272" y="963400"/>
            <a:ext cx="52087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Overall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Total Customers - </a:t>
            </a:r>
            <a:r>
              <a:rPr lang="en-US" b="1" dirty="0"/>
              <a:t>5,000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Total Active Customers - </a:t>
            </a:r>
            <a:r>
              <a:rPr lang="en-US" b="1" dirty="0"/>
              <a:t>4,618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Retention Rate - </a:t>
            </a:r>
            <a:r>
              <a:rPr lang="en-US" b="1" dirty="0"/>
              <a:t>27.86%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Churn Rate (6 months) - </a:t>
            </a:r>
            <a:br>
              <a:rPr lang="en-US" dirty="0"/>
            </a:br>
            <a:r>
              <a:rPr lang="en-US" b="1" dirty="0"/>
              <a:t>28.60%</a:t>
            </a:r>
            <a:r>
              <a:rPr lang="en-US" dirty="0"/>
              <a:t> (1,430 customers), mostly aged 36-50 and 18-25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Repeat Customers Count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Repeat Purchase Rate - </a:t>
            </a:r>
            <a:r>
              <a:rPr lang="en-US" b="1" dirty="0"/>
              <a:t>83.94%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Preferred Channels: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Online - </a:t>
            </a:r>
            <a:r>
              <a:rPr lang="en-US" sz="1600" b="1" dirty="0">
                <a:solidFill>
                  <a:schemeClr val="bg1"/>
                </a:solidFill>
              </a:rPr>
              <a:t>2,056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Both Online &amp; In-store - </a:t>
            </a:r>
            <a:r>
              <a:rPr lang="en-US" sz="1600" b="1" dirty="0">
                <a:solidFill>
                  <a:schemeClr val="bg1"/>
                </a:solidFill>
              </a:rPr>
              <a:t>1,271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In-store only - </a:t>
            </a:r>
            <a:r>
              <a:rPr lang="en-US" sz="1600" b="1" dirty="0">
                <a:solidFill>
                  <a:schemeClr val="bg1"/>
                </a:solidFill>
              </a:rPr>
              <a:t>775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Unknown -</a:t>
            </a:r>
            <a:r>
              <a:rPr lang="en-US" sz="1600" b="1" dirty="0">
                <a:solidFill>
                  <a:schemeClr val="bg1"/>
                </a:solidFill>
              </a:rPr>
              <a:t> 95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Top 3 Customers by Revenue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Tracey Patterson - California - </a:t>
            </a:r>
            <a:r>
              <a:rPr lang="en-US" b="1" dirty="0"/>
              <a:t>$1.44M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Margaret Liu - Pennsylvania - </a:t>
            </a:r>
            <a:r>
              <a:rPr lang="en-US" b="1" dirty="0"/>
              <a:t>$1.15M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Bethany Cowan - California - </a:t>
            </a:r>
            <a:r>
              <a:rPr lang="en-US" b="1" dirty="0"/>
              <a:t>$1.06M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32298-4472-05A7-EF55-200B465B56E1}"/>
              </a:ext>
            </a:extLst>
          </p:cNvPr>
          <p:cNvSpPr txBox="1"/>
          <p:nvPr/>
        </p:nvSpPr>
        <p:spPr>
          <a:xfrm>
            <a:off x="6674315" y="1231179"/>
            <a:ext cx="5284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Top States by Customers &amp; Revenue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u="sng" dirty="0"/>
              <a:t>California -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sz="1600" b="1" dirty="0"/>
              <a:t>873</a:t>
            </a:r>
            <a:r>
              <a:rPr lang="en-IN" sz="1600" dirty="0"/>
              <a:t> customers | </a:t>
            </a:r>
            <a:r>
              <a:rPr lang="en-IN" sz="1600" b="1" dirty="0"/>
              <a:t>$5.07M </a:t>
            </a:r>
            <a:r>
              <a:rPr lang="en-IN" sz="1600" dirty="0"/>
              <a:t>revenue | Avg Order - </a:t>
            </a:r>
            <a:r>
              <a:rPr lang="en-IN" sz="1600" b="1" dirty="0"/>
              <a:t>$888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u="sng" dirty="0"/>
              <a:t>Texas -</a:t>
            </a:r>
            <a:br>
              <a:rPr lang="en-IN" sz="1600" dirty="0"/>
            </a:br>
            <a:r>
              <a:rPr lang="en-IN" sz="1600" b="1" dirty="0"/>
              <a:t>644</a:t>
            </a:r>
            <a:r>
              <a:rPr lang="en-IN" sz="1600" dirty="0"/>
              <a:t> customers | </a:t>
            </a:r>
            <a:r>
              <a:rPr lang="en-IN" sz="1600" b="1" dirty="0"/>
              <a:t>$3.57M </a:t>
            </a:r>
            <a:r>
              <a:rPr lang="en-IN" sz="1600" dirty="0"/>
              <a:t>revenue | Avg Order - </a:t>
            </a:r>
            <a:r>
              <a:rPr lang="en-IN" sz="1600" b="1" dirty="0"/>
              <a:t>$863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u="sng" dirty="0"/>
              <a:t>Florida -</a:t>
            </a:r>
            <a:br>
              <a:rPr lang="en-IN" sz="1600" dirty="0"/>
            </a:br>
            <a:r>
              <a:rPr lang="en-IN" sz="1600" b="1" dirty="0"/>
              <a:t>542</a:t>
            </a:r>
            <a:r>
              <a:rPr lang="en-IN" sz="1600" dirty="0"/>
              <a:t> customers | </a:t>
            </a:r>
            <a:r>
              <a:rPr lang="en-IN" sz="1600" b="1" dirty="0"/>
              <a:t>$2.98M </a:t>
            </a:r>
            <a:r>
              <a:rPr lang="en-IN" sz="1600" dirty="0"/>
              <a:t>revenue | Avg Order - </a:t>
            </a:r>
            <a:r>
              <a:rPr lang="en-IN" sz="1600" b="1" dirty="0"/>
              <a:t>$852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u="sng" dirty="0"/>
              <a:t>New York -</a:t>
            </a:r>
            <a:br>
              <a:rPr lang="en-IN" dirty="0"/>
            </a:br>
            <a:r>
              <a:rPr lang="en-IN" sz="1600" b="1" dirty="0"/>
              <a:t>469</a:t>
            </a:r>
            <a:r>
              <a:rPr lang="en-IN" sz="1600" dirty="0"/>
              <a:t> customers | </a:t>
            </a:r>
            <a:r>
              <a:rPr lang="en-IN" sz="1600" b="1" dirty="0"/>
              <a:t>$2.60M </a:t>
            </a:r>
            <a:r>
              <a:rPr lang="en-IN" sz="1600" dirty="0"/>
              <a:t>revenue | Avg Order - </a:t>
            </a:r>
            <a:r>
              <a:rPr lang="en-IN" sz="1600" b="1" dirty="0"/>
              <a:t>$</a:t>
            </a:r>
            <a:r>
              <a:rPr lang="en-IN" b="1" dirty="0"/>
              <a:t>863</a:t>
            </a:r>
            <a:endParaRPr lang="en-IN" sz="1600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Top Spend by Age &amp; Gender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Top Spending Segments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Female (36-50) - </a:t>
            </a:r>
            <a:r>
              <a:rPr lang="en-US" sz="1600" b="1" dirty="0">
                <a:solidFill>
                  <a:schemeClr val="bg1"/>
                </a:solidFill>
              </a:rPr>
              <a:t>$5.23M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Male (36-50) - </a:t>
            </a:r>
            <a:r>
              <a:rPr lang="en-US" sz="1600" b="1" dirty="0">
                <a:solidFill>
                  <a:schemeClr val="bg1"/>
                </a:solidFill>
              </a:rPr>
              <a:t>$5.16M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Male (26-35) - </a:t>
            </a:r>
            <a:r>
              <a:rPr lang="en-US" sz="1600" b="1" dirty="0">
                <a:solidFill>
                  <a:schemeClr val="bg1"/>
                </a:solidFill>
              </a:rPr>
              <a:t>$4.27M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Female (26-35) - </a:t>
            </a:r>
            <a:r>
              <a:rPr lang="en-US" sz="1600" b="1" dirty="0">
                <a:solidFill>
                  <a:schemeClr val="bg1"/>
                </a:solidFill>
              </a:rPr>
              <a:t>$4.12M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Non-binary and other categories showed lower spend but consistent participation across age groups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889FD2-CBA6-A7A8-88DB-9D17CEB6D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37" y="963400"/>
            <a:ext cx="409116" cy="4091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4B675E-9C84-80EE-0DEA-361E30FB87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9" y="2904735"/>
            <a:ext cx="409116" cy="4091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4116F0E-072D-A7E5-03AA-27778DC937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9" y="5222587"/>
            <a:ext cx="409116" cy="40911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2BA8582-6FC9-B86E-80DF-C7E8182C60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049" y="4139228"/>
            <a:ext cx="485750" cy="4857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93E687A-3FEA-496D-1E33-5EAD2B0835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991" y="1210990"/>
            <a:ext cx="485750" cy="4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4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80549-9A62-794D-A2DF-15682EBD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60E190E3-614A-ED46-CBC1-EFB1B80BD237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4CE1720-51D2-FB03-F7DE-BBA809F8DF84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D27741-9CBE-358D-7991-F27899E1B3DB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5BF04-738A-82AD-3CE1-026525C18995}"/>
              </a:ext>
            </a:extLst>
          </p:cNvPr>
          <p:cNvSpPr txBox="1"/>
          <p:nvPr/>
        </p:nvSpPr>
        <p:spPr>
          <a:xfrm>
            <a:off x="-1" y="0"/>
            <a:ext cx="7842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Campaigns Insights | </a:t>
            </a:r>
            <a:r>
              <a:rPr lang="en-US" sz="2400" b="1" dirty="0">
                <a:solidFill>
                  <a:srgbClr val="FFFF00"/>
                </a:solidFill>
              </a:rPr>
              <a:t>How We Reached Them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F0E76-36AF-B259-FC3A-2562832A81D5}"/>
              </a:ext>
            </a:extLst>
          </p:cNvPr>
          <p:cNvSpPr txBox="1"/>
          <p:nvPr/>
        </p:nvSpPr>
        <p:spPr>
          <a:xfrm>
            <a:off x="741600" y="1332097"/>
            <a:ext cx="52092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Overall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Total ROI achieved - </a:t>
            </a:r>
            <a:r>
              <a:rPr lang="en-US" b="1" dirty="0"/>
              <a:t>$296.86K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Overall conversion rate stands at </a:t>
            </a:r>
            <a:r>
              <a:rPr lang="en-US" b="1" dirty="0"/>
              <a:t>6.17%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Peak Hours for Purchase Activity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Purchases steadily increase starting from </a:t>
            </a:r>
            <a:r>
              <a:rPr lang="en-US" b="1" dirty="0"/>
              <a:t>5 AM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Peak hours are from </a:t>
            </a:r>
            <a:r>
              <a:rPr lang="en-US" b="1" dirty="0"/>
              <a:t>11 AM to 2 PM</a:t>
            </a:r>
            <a:r>
              <a:rPr lang="en-US" dirty="0"/>
              <a:t>, with the highest volume at </a:t>
            </a:r>
            <a:r>
              <a:rPr lang="en-US" b="1" dirty="0"/>
              <a:t>12 PM </a:t>
            </a:r>
            <a:r>
              <a:rPr lang="en-US" dirty="0"/>
              <a:t>with</a:t>
            </a:r>
            <a:r>
              <a:rPr lang="en-US" b="1" dirty="0"/>
              <a:t> 829 </a:t>
            </a:r>
            <a:r>
              <a:rPr lang="en-US" dirty="0"/>
              <a:t>purchases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Activity declines after </a:t>
            </a:r>
            <a:r>
              <a:rPr lang="en-US" b="1" dirty="0"/>
              <a:t>4 PM</a:t>
            </a:r>
            <a:r>
              <a:rPr lang="en-US" dirty="0"/>
              <a:t>, with a small spike at </a:t>
            </a:r>
            <a:r>
              <a:rPr lang="en-US" b="1" dirty="0"/>
              <a:t>11 PM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Top ROI-Efficient Target Segments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“Home Improvement” leads with </a:t>
            </a:r>
            <a:r>
              <a:rPr lang="en-US" b="1" dirty="0"/>
              <a:t>$59.09K ROI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“All Customers” generate </a:t>
            </a:r>
            <a:r>
              <a:rPr lang="en-US" b="1" dirty="0"/>
              <a:t>$48.72K ROI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Other strong segments include New Customers, West Coast, Middle-aged 41-60 and Southern States generated more than </a:t>
            </a:r>
            <a:r>
              <a:rPr lang="en-US" b="1" dirty="0"/>
              <a:t>$15k </a:t>
            </a:r>
            <a:r>
              <a:rPr lang="en-US" dirty="0"/>
              <a:t>each.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6124A-8A01-BBBF-F9CF-2207B5BF4C0E}"/>
              </a:ext>
            </a:extLst>
          </p:cNvPr>
          <p:cNvSpPr txBox="1"/>
          <p:nvPr/>
        </p:nvSpPr>
        <p:spPr>
          <a:xfrm>
            <a:off x="6674400" y="970242"/>
            <a:ext cx="52848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Campaign Performance by Type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/>
              <a:t>Search Engine Marketing performs best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ROI - </a:t>
            </a:r>
            <a:r>
              <a:rPr lang="en-US" sz="1600" b="1" dirty="0">
                <a:solidFill>
                  <a:schemeClr val="bg1"/>
                </a:solidFill>
              </a:rPr>
              <a:t>$162.64K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Conversion Rate - </a:t>
            </a:r>
            <a:r>
              <a:rPr lang="en-US" sz="1600" b="1" dirty="0">
                <a:solidFill>
                  <a:schemeClr val="bg1"/>
                </a:solidFill>
              </a:rPr>
              <a:t>10.45%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Cost Per Click - </a:t>
            </a:r>
            <a:r>
              <a:rPr lang="en-US" sz="1600" b="1" dirty="0">
                <a:solidFill>
                  <a:schemeClr val="bg1"/>
                </a:solidFill>
              </a:rPr>
              <a:t>$0.38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Cost Per Acquisition - </a:t>
            </a:r>
            <a:r>
              <a:rPr lang="en-US" sz="1600" b="1" dirty="0">
                <a:solidFill>
                  <a:schemeClr val="bg1"/>
                </a:solidFill>
              </a:rPr>
              <a:t>$3.67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/>
              <a:t>In-Store Promotions show strong results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ROI - </a:t>
            </a:r>
            <a:r>
              <a:rPr lang="en-US" sz="1600" b="1" dirty="0">
                <a:solidFill>
                  <a:schemeClr val="bg1"/>
                </a:solidFill>
              </a:rPr>
              <a:t>$48.63K,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Conversion Rate - </a:t>
            </a:r>
            <a:r>
              <a:rPr lang="en-US" sz="1600" b="1" dirty="0">
                <a:solidFill>
                  <a:schemeClr val="bg1"/>
                </a:solidFill>
              </a:rPr>
              <a:t>29.05%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u="sng" dirty="0"/>
              <a:t>Underperforming campaigns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TV, Radio and Print Ads deliver low ROI under </a:t>
            </a:r>
            <a:r>
              <a:rPr lang="en-US" sz="1600" b="1" dirty="0">
                <a:solidFill>
                  <a:schemeClr val="bg1"/>
                </a:solidFill>
              </a:rPr>
              <a:t>1%</a:t>
            </a:r>
            <a:r>
              <a:rPr lang="en-US" sz="1600" dirty="0">
                <a:solidFill>
                  <a:schemeClr val="bg1"/>
                </a:solidFill>
              </a:rPr>
              <a:t> with very high acquisition costs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</a:rPr>
              <a:t>SMS and Influencer Marketing also have low ROI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Channel Engagement Insights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Highest user interactions from Web with </a:t>
            </a:r>
            <a:r>
              <a:rPr lang="en-US" b="1" dirty="0"/>
              <a:t>55.7K</a:t>
            </a:r>
            <a:r>
              <a:rPr lang="en-US" dirty="0"/>
              <a:t> and Mobile App with </a:t>
            </a:r>
            <a:r>
              <a:rPr lang="en-US" b="1" dirty="0"/>
              <a:t>26.9K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Longest average session durations on Web at </a:t>
            </a:r>
            <a:r>
              <a:rPr lang="en-US" b="1" dirty="0"/>
              <a:t>91.08</a:t>
            </a:r>
            <a:r>
              <a:rPr lang="en-US" dirty="0"/>
              <a:t> minutes, followed by Mobile App at </a:t>
            </a:r>
            <a:r>
              <a:rPr lang="en-US" b="1" dirty="0"/>
              <a:t>82.49 </a:t>
            </a:r>
            <a:r>
              <a:rPr lang="en-US" dirty="0"/>
              <a:t>minutes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Mobile App drove the highest purchase actions at </a:t>
            </a:r>
            <a:r>
              <a:rPr lang="en-US" b="1" dirty="0"/>
              <a:t>13.6K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4AF4FE-A6EA-9AB9-8419-2CCE05B48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17" y="2763292"/>
            <a:ext cx="504210" cy="5042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21C511-7420-0253-F1DB-56FCADD763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67" y="4793016"/>
            <a:ext cx="409060" cy="4090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E92F28-BD74-30A4-468B-1BDD2E2AD2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400" y="967644"/>
            <a:ext cx="464850" cy="4648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06F7DB5-A09D-7B5A-F899-698CA17472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667" y="4874856"/>
            <a:ext cx="464850" cy="46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21E78-5798-2FA2-367E-E503753564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43" y="1328485"/>
            <a:ext cx="409116" cy="40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1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133F4-FC67-4B35-33B9-52F0DA7E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3AF583B-4A62-B7CE-DAF7-F1B39E8511D4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0D57DFE-246F-4203-9CD4-FA816A7DE06E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9E3078-D66F-3B76-F07E-B7B52E3A2299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0D7BA-692F-1DB1-6685-1218BC7483EE}"/>
              </a:ext>
            </a:extLst>
          </p:cNvPr>
          <p:cNvSpPr txBox="1"/>
          <p:nvPr/>
        </p:nvSpPr>
        <p:spPr>
          <a:xfrm>
            <a:off x="-1" y="0"/>
            <a:ext cx="870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Support Tickets Insights | </a:t>
            </a:r>
            <a:r>
              <a:rPr lang="en-US" sz="2400" b="1" dirty="0">
                <a:solidFill>
                  <a:srgbClr val="FFFF00"/>
                </a:solidFill>
              </a:rPr>
              <a:t>How We Served Them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DAAA30-A8EB-43F7-1FE8-61AB0C9D64DE}"/>
              </a:ext>
            </a:extLst>
          </p:cNvPr>
          <p:cNvSpPr txBox="1"/>
          <p:nvPr/>
        </p:nvSpPr>
        <p:spPr>
          <a:xfrm>
            <a:off x="728596" y="810878"/>
            <a:ext cx="52092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Overall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b="1" dirty="0"/>
              <a:t>3,000</a:t>
            </a:r>
            <a:r>
              <a:rPr lang="en-IN" dirty="0"/>
              <a:t> total tickets handled.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Average Customer Satisfaction Score -  </a:t>
            </a:r>
            <a:r>
              <a:rPr lang="en-IN" b="1" dirty="0"/>
              <a:t>3.44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Ticket volume has grown steadily, peaking at </a:t>
            </a:r>
            <a:r>
              <a:rPr lang="en-IN" b="1" dirty="0"/>
              <a:t>220+ </a:t>
            </a:r>
            <a:r>
              <a:rPr lang="en-IN" dirty="0"/>
              <a:t>in Jan 2025.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b="1" dirty="0"/>
              <a:t>1 in 3 tickets</a:t>
            </a:r>
            <a:r>
              <a:rPr lang="en-IN" dirty="0"/>
              <a:t> took more than </a:t>
            </a:r>
            <a:r>
              <a:rPr lang="en-IN" b="1" dirty="0"/>
              <a:t>48</a:t>
            </a:r>
            <a:r>
              <a:rPr lang="en-IN" dirty="0"/>
              <a:t> hours to resolve - area for improvement.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Improve handling of “Account, Product Inquiry issues”.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Monthly Trends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Steady growth in support volume over 5 years.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No major drop in customer satisfaction despite rising ticket load.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Recent months (2024 - 2025) handled </a:t>
            </a:r>
            <a:r>
              <a:rPr lang="en-IN" b="1" dirty="0"/>
              <a:t>100+</a:t>
            </a:r>
            <a:r>
              <a:rPr lang="en-IN" dirty="0"/>
              <a:t> tickets/month with stable CSS score.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Resolution Time Distribution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b="1" dirty="0"/>
              <a:t>28.39% </a:t>
            </a:r>
            <a:r>
              <a:rPr lang="en-IN" dirty="0"/>
              <a:t>of tickets resolved within 24 hours.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</a:rPr>
              <a:t>0 - 12 hrs -  </a:t>
            </a:r>
            <a:r>
              <a:rPr lang="en-IN" sz="1600" b="1" dirty="0">
                <a:solidFill>
                  <a:schemeClr val="bg1"/>
                </a:solidFill>
              </a:rPr>
              <a:t>628</a:t>
            </a:r>
            <a:r>
              <a:rPr lang="en-IN" sz="1600" dirty="0">
                <a:solidFill>
                  <a:schemeClr val="bg1"/>
                </a:solidFill>
              </a:rPr>
              <a:t> tickets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</a:rPr>
              <a:t>12 - 24 hrs -  </a:t>
            </a:r>
            <a:r>
              <a:rPr lang="en-IN" sz="1600" b="1" dirty="0">
                <a:solidFill>
                  <a:schemeClr val="bg1"/>
                </a:solidFill>
              </a:rPr>
              <a:t>392</a:t>
            </a:r>
            <a:r>
              <a:rPr lang="en-IN" sz="1600" dirty="0">
                <a:solidFill>
                  <a:schemeClr val="bg1"/>
                </a:solidFill>
              </a:rPr>
              <a:t> tickets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b="1" dirty="0"/>
              <a:t>71.61% </a:t>
            </a:r>
            <a:r>
              <a:rPr lang="en-IN" dirty="0"/>
              <a:t>of tickets took more than 24 hours to resolve.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</a:rPr>
              <a:t>24 - 48 hrs -  </a:t>
            </a:r>
            <a:r>
              <a:rPr lang="en-IN" sz="1600" b="1" dirty="0">
                <a:solidFill>
                  <a:schemeClr val="bg1"/>
                </a:solidFill>
              </a:rPr>
              <a:t>971</a:t>
            </a:r>
            <a:r>
              <a:rPr lang="en-IN" sz="1600" dirty="0">
                <a:solidFill>
                  <a:schemeClr val="bg1"/>
                </a:solidFill>
              </a:rPr>
              <a:t> tickets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</a:rPr>
              <a:t>48+ hrs -  </a:t>
            </a:r>
            <a:r>
              <a:rPr lang="en-IN" sz="1600" b="1" dirty="0">
                <a:solidFill>
                  <a:schemeClr val="bg1"/>
                </a:solidFill>
              </a:rPr>
              <a:t>1,009</a:t>
            </a:r>
            <a:r>
              <a:rPr lang="en-IN" sz="1600" dirty="0">
                <a:solidFill>
                  <a:schemeClr val="bg1"/>
                </a:solidFill>
              </a:rPr>
              <a:t> tickets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22A98-DD34-B601-4E2B-9ADAAAC2A4C4}"/>
              </a:ext>
            </a:extLst>
          </p:cNvPr>
          <p:cNvSpPr txBox="1"/>
          <p:nvPr/>
        </p:nvSpPr>
        <p:spPr>
          <a:xfrm>
            <a:off x="6652884" y="778241"/>
            <a:ext cx="549918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Ticket Status Overview</a:t>
            </a:r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Priority-Based Performance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endParaRPr lang="en-IN" sz="18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Top Issue Categories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Shipping: Tickets - 436 | Avg Res Hrs - 37.7 | Avg CSS -  3.52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Account: Tickets - 430 | Avg Res Hrs - 51.1| Avg CSS -  3.29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Billing: Tickets - 424 | Avg  Res Hrs - 33.6 | Avg CSS -  3.51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Technical: Tickets - 419 | Avg Res Hrs - 33.15 | Avg CSS -  3.45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9561B-FC9A-5ABC-F5D0-1AA03CB53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30" y="832886"/>
            <a:ext cx="409116" cy="40911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81F966-6852-1AD5-987A-24519D4D4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628871"/>
              </p:ext>
            </p:extLst>
          </p:nvPr>
        </p:nvGraphicFramePr>
        <p:xfrm>
          <a:off x="6770334" y="3612367"/>
          <a:ext cx="483309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016">
                  <a:extLst>
                    <a:ext uri="{9D8B030D-6E8A-4147-A177-3AD203B41FA5}">
                      <a16:colId xmlns:a16="http://schemas.microsoft.com/office/drawing/2014/main" val="1548989240"/>
                    </a:ext>
                  </a:extLst>
                </a:gridCol>
                <a:gridCol w="1103243">
                  <a:extLst>
                    <a:ext uri="{9D8B030D-6E8A-4147-A177-3AD203B41FA5}">
                      <a16:colId xmlns:a16="http://schemas.microsoft.com/office/drawing/2014/main" val="2717535875"/>
                    </a:ext>
                  </a:extLst>
                </a:gridCol>
                <a:gridCol w="1407118">
                  <a:extLst>
                    <a:ext uri="{9D8B030D-6E8A-4147-A177-3AD203B41FA5}">
                      <a16:colId xmlns:a16="http://schemas.microsoft.com/office/drawing/2014/main" val="662468314"/>
                    </a:ext>
                  </a:extLst>
                </a:gridCol>
                <a:gridCol w="1395716">
                  <a:extLst>
                    <a:ext uri="{9D8B030D-6E8A-4147-A177-3AD203B41FA5}">
                      <a16:colId xmlns:a16="http://schemas.microsoft.com/office/drawing/2014/main" val="350869122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Total Tickets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Avg Resolution Hrs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Avg CS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7918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High</a:t>
                      </a:r>
                    </a:p>
                  </a:txBody>
                  <a:tcPr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24.32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3.48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3368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Medium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1328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35.80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3.55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9731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Low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65.35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3.20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5360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45.48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3.83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8016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9AB4B6-5219-4177-619E-AA48D5C39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345815"/>
              </p:ext>
            </p:extLst>
          </p:nvPr>
        </p:nvGraphicFramePr>
        <p:xfrm>
          <a:off x="6770334" y="1174076"/>
          <a:ext cx="4833093" cy="1847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781">
                  <a:extLst>
                    <a:ext uri="{9D8B030D-6E8A-4147-A177-3AD203B41FA5}">
                      <a16:colId xmlns:a16="http://schemas.microsoft.com/office/drawing/2014/main" val="1548989240"/>
                    </a:ext>
                  </a:extLst>
                </a:gridCol>
                <a:gridCol w="903642">
                  <a:extLst>
                    <a:ext uri="{9D8B030D-6E8A-4147-A177-3AD203B41FA5}">
                      <a16:colId xmlns:a16="http://schemas.microsoft.com/office/drawing/2014/main" val="2717535875"/>
                    </a:ext>
                  </a:extLst>
                </a:gridCol>
                <a:gridCol w="1340954">
                  <a:extLst>
                    <a:ext uri="{9D8B030D-6E8A-4147-A177-3AD203B41FA5}">
                      <a16:colId xmlns:a16="http://schemas.microsoft.com/office/drawing/2014/main" val="662468314"/>
                    </a:ext>
                  </a:extLst>
                </a:gridCol>
                <a:gridCol w="1395716">
                  <a:extLst>
                    <a:ext uri="{9D8B030D-6E8A-4147-A177-3AD203B41FA5}">
                      <a16:colId xmlns:a16="http://schemas.microsoft.com/office/drawing/2014/main" val="3508691224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+mn-lt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+mn-lt"/>
                        </a:rPr>
                        <a:t>Total Tickets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+mn-lt"/>
                        </a:rPr>
                        <a:t>Avg Resolution Hrs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+mn-lt"/>
                        </a:rPr>
                        <a:t>Avg CS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79185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Resolved</a:t>
                      </a:r>
                    </a:p>
                  </a:txBody>
                  <a:tcPr marL="68580" marR="68580"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2652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43.58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3.48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233684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Pending</a:t>
                      </a: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397312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Escalated</a:t>
                      </a:r>
                    </a:p>
                  </a:txBody>
                  <a:tcPr marL="68580" marR="68580" marT="0" marB="0" anchor="ctr"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953602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Unknown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32.68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3.29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4801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Closed without Resolution</a:t>
                      </a:r>
                    </a:p>
                  </a:txBody>
                  <a:tcPr marL="68580" marR="68580" marT="0" marB="0" anchor="ctr">
                    <a:solidFill>
                      <a:srgbClr val="F8BAF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124.00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1.89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663621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B4F7D687-422B-5FD9-8202-38673BD3B5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35" y="2990083"/>
            <a:ext cx="454811" cy="4548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3413333-746F-347D-7D72-CFDDF8D63E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11" y="4762082"/>
            <a:ext cx="454811" cy="4548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044687-DC7A-6DC9-F743-8B18570237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230" y="769582"/>
            <a:ext cx="535724" cy="5357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1893DC2-08F1-827E-D019-EBB60372FE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733" y="3293384"/>
            <a:ext cx="467816" cy="4678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3B2CD68-0342-8EB1-3AF6-BB888FEEED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733" y="5216387"/>
            <a:ext cx="535723" cy="5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15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78E8F-A35D-4C51-223F-121EC027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2C1BFF1F-6B65-542D-5660-A04ACE0B2EC9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E6830-158B-1570-EA4C-432D6D0A61F5}"/>
              </a:ext>
            </a:extLst>
          </p:cNvPr>
          <p:cNvSpPr txBox="1"/>
          <p:nvPr/>
        </p:nvSpPr>
        <p:spPr>
          <a:xfrm>
            <a:off x="0" y="0"/>
            <a:ext cx="38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Recommendations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8883B-AA07-311C-24FD-C1DCEF981132}"/>
              </a:ext>
            </a:extLst>
          </p:cNvPr>
          <p:cNvSpPr txBox="1"/>
          <p:nvPr/>
        </p:nvSpPr>
        <p:spPr>
          <a:xfrm>
            <a:off x="728596" y="1135946"/>
            <a:ext cx="1123390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sz="2000" b="1" dirty="0">
                <a:solidFill>
                  <a:srgbClr val="FFFF00"/>
                </a:solidFill>
              </a:rPr>
              <a:t>1. Revenue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Focus marketing efforts on high-revenue categories like Furniture ($6.13M), Smartphones ($4.94M) and Laptops ($3.95M).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Capitalize on Nov ($3.71M) and Dec ($3.78M) surges with festive promotions, bundled deals and upselling.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Optimize ads, personalized recommendations and loyalty rewards to further grow the $13.98M Online revenue channel.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Promote preferred payment methods like Credit Cards ($9.38M across 10,097 transactions) to boost average order value and checkout speed.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Reevaluate low-revenue categories under $500K such as Tablets, Cookware, Small Kitchen Appliances, Bedding and Computer Accessories for promotional pushes.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Develop location-specific offers to lift sales in Florida ($1.19M), Colorado ($1.22M) and similar low-performing states.</a:t>
            </a:r>
          </a:p>
          <a:p>
            <a:pPr marL="0" lvl="0" indent="0">
              <a:buNone/>
            </a:pPr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dirty="0">
                <a:solidFill>
                  <a:srgbClr val="FFFF00"/>
                </a:solidFill>
              </a:rPr>
              <a:t>2. Product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Increase stock levels by 20% for bestsellers (Bed Frame, Office Desk, Sofa  -  each $1.2M+) before seasonal peaks.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Expand promoting Smart Home Devices (6,153 units), Smartphones (6,153 units) and Furniture (5,575) with seasonal and event-based campaigns.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Offer retention incentives to first-time buyers in Smartphones (608), Smart Home Devices (600) and Kitchen Appliances (529).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Launch clearance or repositioning strategies for low-volume categories like Bedding, Computer Accessories, Desktop Computers and Tablets.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Pair high-rated products such as iMac (5★) and Lenovo IdeaCentre (5★) with lower-selling items to boost sales.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dirty="0"/>
              <a:t>Highlight 4.5★+ rated products in ads to reinforce trust and improve conversion rate.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81DC7E-545B-AC74-0559-64A10B22A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24" y="1107974"/>
            <a:ext cx="543767" cy="5437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CE900C-E0AD-0CA5-EDD6-D56745C038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60" y="3799335"/>
            <a:ext cx="662184" cy="6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13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31F54-4C2E-8EF4-3FB6-A94B7411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61F525CD-AE57-52CE-E3F2-21AFF7A435FF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2E7187-78F4-3DF4-DE56-68B7F6D8BA50}"/>
              </a:ext>
            </a:extLst>
          </p:cNvPr>
          <p:cNvSpPr txBox="1"/>
          <p:nvPr/>
        </p:nvSpPr>
        <p:spPr>
          <a:xfrm>
            <a:off x="0" y="0"/>
            <a:ext cx="38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Recommendations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A7B653-FC19-4412-2683-2EBDFCDBA023}"/>
              </a:ext>
            </a:extLst>
          </p:cNvPr>
          <p:cNvSpPr txBox="1"/>
          <p:nvPr/>
        </p:nvSpPr>
        <p:spPr>
          <a:xfrm>
            <a:off x="728596" y="813217"/>
            <a:ext cx="1123390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sz="2000" b="1" dirty="0">
                <a:solidFill>
                  <a:srgbClr val="FFFF00"/>
                </a:solidFill>
              </a:rPr>
              <a:t>3. Customers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Improve the 27.86% retention rate and reduce the 28.6% churn (1,430 in 6 months) by focusing on high-churn age groups 36 - 50 (462 customers) and 26 - 35 (341 customers) through tailored reactivation offers.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Boost lifetime value from top-spending segments: Female 36 - 50 ($5.23M), Male 36 - 50 ($5.16M), and Male 26 - 35 ($4.27M) with premium product bundles, early-bird offers, and loyalty perks.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Leverage online repeat buyers (2,056 customers, 83.94% repeat purchase rate) through loyalty points, early access sales, and subscription models.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Engage top spenders like Tracey Patterson ($1.44M) and Margaret Liu ($1.15M) with exclusive VIP programs to drive advocacy and repeat orders.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Target high-value states California ($5.07M), Texas ($3.57M), Florida ($2.98M) with geo-specific promotions while lifting lower-revenue states like Washington ($0.8M) and Massachusetts ($0.7M).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b="1" dirty="0">
                <a:solidFill>
                  <a:srgbClr val="FFFF00"/>
                </a:solidFill>
              </a:rPr>
              <a:t>4. Campaigns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Prioritize Search Engine Marketing (ROI - 32.31%) and Email Marketing (ROI - 15.92%) for future budget allocation, scaling high-ROI channels while reducing spend on low-ROI mediums like TV (0.16%) and Radio (0.34%).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Optimize In-Store Promotions (Conversion Rate - 29.05%) by integrating QR codes and digital coupons to bridge offline-to-online conversions.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Improve underperforming channels (e.g., Online Display ROI 1.13%, Social Media ROI 2.05%) by A/B testing creatives, tightening audience targeting, and leveraging retargeting strategies.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Expand campaigns for Home Improvement (ROI - $59K) while testing niche targeting for high-engagement segments like Technology Enthusiasts and Online Shoppers.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Concentrate ad delivery during peak purchase hours 12 PM - 3 PM and 10 AM - 11 AM when purchase volume exceeds 750 orders/hour.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664C7-5575-1042-1D4B-439350AD9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96" y="813217"/>
            <a:ext cx="432000" cy="43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342A33-EB10-09E5-3595-C5DD6AABCF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98" y="3822315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51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229F2-7AD8-5FBC-4689-393FBEEF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1D3EF562-B90C-13C5-1638-46CE5B643D5D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10898-8CD3-8001-ABCD-D8C00A92CCD5}"/>
              </a:ext>
            </a:extLst>
          </p:cNvPr>
          <p:cNvSpPr txBox="1"/>
          <p:nvPr/>
        </p:nvSpPr>
        <p:spPr>
          <a:xfrm>
            <a:off x="0" y="0"/>
            <a:ext cx="3833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Recommendations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DBE3C-9318-FDEF-7EC6-83A65BC79C07}"/>
              </a:ext>
            </a:extLst>
          </p:cNvPr>
          <p:cNvSpPr txBox="1"/>
          <p:nvPr/>
        </p:nvSpPr>
        <p:spPr>
          <a:xfrm>
            <a:off x="728596" y="813217"/>
            <a:ext cx="1123390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sz="2000" b="1" dirty="0">
                <a:solidFill>
                  <a:srgbClr val="FFFF00"/>
                </a:solidFill>
              </a:rPr>
              <a:t>5. Support Tickets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Ticket volume reached 3,000 in the latest period, with a sharp rise since mid-2023 and a peak of 220 in Jan 2025; capacity scaling is critical.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Yearly trend shows a gradual rise in CS scores until late 2023, then fluctuating between 3.2 - 3.7, signalling stability but no significant improvement.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Only 28.39% of tickets are resolved within 24 hrs, highlighting the need for faster triaging and improved first-contact resolution.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High-priority tickets resolve in 24.32 hrs with a 3.48 CS score, but low-priority ones take 65.35 hrs and yield the lowest CS score (3.20), suggesting disproportionate delays.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Shipping, Account Issues, and Billing each exceed 420 tickets; Account Issues have the longest resolution (51.13 hrs) and below-average satisfaction (3.29).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Website Issues and Product Inquiries average 48+ hrs resolution, indicating system/process inefficiencies in these categories.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“Closed without Resolution” cases take 124 hrs and deliver a poor 1.89 CS score; these should be minimized through escalation protocols.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6FB528-CE26-1B1E-E235-B98D822A73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96" y="852973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823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06E6E-A267-24BF-9EC1-D7717585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29FB8505-C686-2E3E-1349-B15B08A01179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13BDD3-5126-FDF5-8EF2-42810B685B59}"/>
              </a:ext>
            </a:extLst>
          </p:cNvPr>
          <p:cNvSpPr txBox="1"/>
          <p:nvPr/>
        </p:nvSpPr>
        <p:spPr>
          <a:xfrm>
            <a:off x="0" y="0"/>
            <a:ext cx="5163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Action Plan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9F4EA-B6DE-7FF2-D145-B48A62961853}"/>
              </a:ext>
            </a:extLst>
          </p:cNvPr>
          <p:cNvSpPr txBox="1"/>
          <p:nvPr/>
        </p:nvSpPr>
        <p:spPr>
          <a:xfrm>
            <a:off x="1473798" y="802462"/>
            <a:ext cx="102627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Implement Targeted Revenue Strategies</a:t>
            </a:r>
          </a:p>
          <a:p>
            <a:pPr marL="0" indent="0">
              <a:buNone/>
            </a:pPr>
            <a:r>
              <a:rPr lang="en-IN" dirty="0"/>
              <a:t>Focus on high-performing states like California, Texas, and Florida while running pilot campaigns in underperforming regions to close the gap.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Optimize Product Mix</a:t>
            </a:r>
          </a:p>
          <a:p>
            <a:pPr marL="0" indent="0">
              <a:buNone/>
            </a:pPr>
            <a:r>
              <a:rPr lang="en-IN" dirty="0"/>
              <a:t>Increase inventory for top sellers and phase out or repackage low-margin SKUs, using seasonal demand trends to guide planning.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Enhance Customer Segmentation </a:t>
            </a:r>
          </a:p>
          <a:p>
            <a:pPr marL="0" indent="0">
              <a:buNone/>
            </a:pPr>
            <a:r>
              <a:rPr lang="en-IN" dirty="0"/>
              <a:t>Launch tailored marketing for high-value segments (e.g., Female 36-50, Male 26-35) while improving engagement for underrepresented demographics.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Refine Campaign Investments </a:t>
            </a:r>
          </a:p>
          <a:p>
            <a:pPr marL="0" indent="0">
              <a:buNone/>
            </a:pPr>
            <a:r>
              <a:rPr lang="en-IN" dirty="0"/>
              <a:t>Shift budget toward high-ROI channels such as Search Engine Marketing, Email, and In-Store Promotions, while testing new low-cost digital avenues.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800" b="1" dirty="0">
                <a:solidFill>
                  <a:srgbClr val="FFFF00"/>
                </a:solidFill>
              </a:rPr>
              <a:t>Streamline Support Processes </a:t>
            </a:r>
          </a:p>
          <a:p>
            <a:pPr marL="0" indent="0">
              <a:buNone/>
            </a:pPr>
            <a:r>
              <a:rPr lang="en-IN" dirty="0"/>
              <a:t>Address high ticket volumes in categories like Shipping and Account Issues through automation, improved FAQs, and priority-based resolution workflows.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6C6077-14D5-3CAE-E2CC-0F20C5F8F7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99" y="3007667"/>
            <a:ext cx="1047967" cy="104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57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AD12DC-089C-3C17-319F-D6520180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38C9A4A7-ED40-ABEF-6660-B9ED51371561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B7E4D7-FFFA-FF86-8224-7EB4DC300365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CC480C4-DB4E-C285-A346-D4BB348962C6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CFCFD8-FA0D-D76D-3722-79F159ED1A61}"/>
              </a:ext>
            </a:extLst>
          </p:cNvPr>
          <p:cNvSpPr txBox="1"/>
          <p:nvPr/>
        </p:nvSpPr>
        <p:spPr>
          <a:xfrm>
            <a:off x="0" y="0"/>
            <a:ext cx="5884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Appendix 1 - File Descriptions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19DD8-A53C-9FFF-0159-212CEB8A47EC}"/>
              </a:ext>
            </a:extLst>
          </p:cNvPr>
          <p:cNvSpPr txBox="1"/>
          <p:nvPr/>
        </p:nvSpPr>
        <p:spPr>
          <a:xfrm>
            <a:off x="97781" y="741040"/>
            <a:ext cx="593928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 fontAlgn="base">
              <a:buNone/>
            </a:pPr>
            <a:r>
              <a:rPr lang="en-US" sz="2400" b="1" dirty="0">
                <a:solidFill>
                  <a:srgbClr val="FFFF00"/>
                </a:solidFill>
              </a:rPr>
              <a:t>1. Customers:</a:t>
            </a:r>
          </a:p>
          <a:p>
            <a:pPr marL="0" indent="0" fontAlgn="base">
              <a:buNone/>
            </a:pPr>
            <a:r>
              <a:rPr lang="en-US" sz="1400" dirty="0"/>
              <a:t>(Contains demographic, basic registration information about each customer.)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Rows -  5,000 | Columns - 12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Column Details: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ID (int or string): Unique identifier for each customer.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Full Name (string): Full name of the customer.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Age (int): Age of the customer.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Gender (string): Gender of the customer (e.g., “Male”, “Female”, “Other”).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Email (string): Email address.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Phone (string): Phone number.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Street Address (string): Street address.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City (string): City of residence.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State (string): State of residence.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Zip Code (string): Zip code/postal code.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Registration Date (date): Date the customer registered.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Preferred Channel (string): Preferred communication channel (e.g., “Email”, “SMS”, “Phone”).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68364-804A-8076-19D9-FB40BC63F00A}"/>
              </a:ext>
            </a:extLst>
          </p:cNvPr>
          <p:cNvSpPr txBox="1"/>
          <p:nvPr/>
        </p:nvSpPr>
        <p:spPr>
          <a:xfrm>
            <a:off x="6154940" y="741039"/>
            <a:ext cx="59392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 fontAlgn="base">
              <a:buNone/>
            </a:pPr>
            <a:r>
              <a:rPr lang="en-US" sz="2400" b="1" dirty="0">
                <a:solidFill>
                  <a:srgbClr val="FFFF00"/>
                </a:solidFill>
              </a:rPr>
              <a:t>2. Transactions:</a:t>
            </a:r>
          </a:p>
          <a:p>
            <a:pPr marL="0" indent="0" fontAlgn="base">
              <a:buNone/>
            </a:pPr>
            <a:r>
              <a:rPr lang="en-US" sz="1400" dirty="0"/>
              <a:t>(Includes purchase information for products bought by customers.)</a:t>
            </a:r>
          </a:p>
          <a:p>
            <a:pPr marL="0" indent="0" fontAlgn="base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b="1" dirty="0"/>
              <a:t>Rows -  32,295 | Columns - 10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Column Details: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Transaction ID (int): Unique ID for each transaction.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C</a:t>
            </a:r>
            <a:r>
              <a:rPr lang="en-US" dirty="0"/>
              <a:t>ustomer ID (int or string): Links to customer id in customers.csv.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</a:t>
            </a:r>
            <a:r>
              <a:rPr lang="en-US" dirty="0"/>
              <a:t>roduct Name (string): Name of the purchased product.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</a:t>
            </a:r>
            <a:r>
              <a:rPr lang="en-US" dirty="0"/>
              <a:t>roduct Category (string): Category of the product.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Q</a:t>
            </a:r>
            <a:r>
              <a:rPr lang="en-US" dirty="0"/>
              <a:t>uantity (int): Number of units purchased in this transaction.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</a:t>
            </a:r>
            <a:r>
              <a:rPr lang="en-US" dirty="0"/>
              <a:t>rice (float): Price per unit of the product.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T</a:t>
            </a:r>
            <a:r>
              <a:rPr lang="en-US" dirty="0"/>
              <a:t>ransaction Date (date): Date when the transaction was completed.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S</a:t>
            </a:r>
            <a:r>
              <a:rPr lang="en-US" dirty="0"/>
              <a:t>tore Location (string): Physical store location or “Online” if purchased via e-commerce.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</a:t>
            </a:r>
            <a:r>
              <a:rPr lang="en-US" dirty="0"/>
              <a:t>ayment Method (string): Payment method (e.g., “Credit Card”, “PayPal”, “Cash”).</a:t>
            </a: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D</a:t>
            </a:r>
            <a:r>
              <a:rPr lang="en-US" dirty="0"/>
              <a:t>iscount Applied (float or int): Discount amount or percentage applied (if any).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BD898A-A5EA-1122-2273-23313D6C5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486" y="756402"/>
            <a:ext cx="364199" cy="364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52881A-33CF-D4EE-9A78-47AD80220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959" y="756401"/>
            <a:ext cx="364199" cy="36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3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55137-4A7D-B75A-1A8D-1C8F53EC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3A46A1F4-3728-5524-5D41-ECC17EEC92B9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30197A-A360-AB7C-CE6A-EE2EB2BF246A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85C8F3A-00FD-A2F8-3BEC-141433C00A1E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AE25F-EE6E-EF49-1F89-8C83EED33CBF}"/>
              </a:ext>
            </a:extLst>
          </p:cNvPr>
          <p:cNvSpPr txBox="1"/>
          <p:nvPr/>
        </p:nvSpPr>
        <p:spPr>
          <a:xfrm>
            <a:off x="0" y="0"/>
            <a:ext cx="5884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Appendix 1 - File Descriptions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122DAB-BF82-57E2-A249-C9763ECCDFEC}"/>
              </a:ext>
            </a:extLst>
          </p:cNvPr>
          <p:cNvSpPr txBox="1"/>
          <p:nvPr/>
        </p:nvSpPr>
        <p:spPr>
          <a:xfrm>
            <a:off x="97781" y="741040"/>
            <a:ext cx="593928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 fontAlgn="base">
              <a:buNone/>
            </a:pPr>
            <a:r>
              <a:rPr lang="en-US" sz="2400" b="1" dirty="0">
                <a:solidFill>
                  <a:srgbClr val="FFFF00"/>
                </a:solidFill>
              </a:rPr>
              <a:t>3. Interactions:</a:t>
            </a:r>
          </a:p>
          <a:p>
            <a:pPr marL="0" indent="0" fontAlgn="base">
              <a:buNone/>
            </a:pPr>
            <a:r>
              <a:rPr lang="en-US" sz="1400" dirty="0"/>
              <a:t>(Captures various interactions the customer has with the company’s digital channels.)</a:t>
            </a:r>
          </a:p>
          <a:p>
            <a:pPr marL="0" indent="0" fontAlgn="base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b="1" dirty="0"/>
              <a:t>Rows -  1,00,000 | Columns - 8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Column Details: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Interaction ID (int): Unique ID for each interaction.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ID (int or string): Links to customer id in customers.csv.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Channel (string): Channel of interaction (e.g., “Website”, “Mobile App”, “Social Media”).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Interaction Type (string): Type of interaction (e.g., “View Product”, “Add to Cart”, “Click Ad”).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Interaction Date (date): Date of the interaction.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Duration (int or float): Duration of interaction in seconds or minutes.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Page or Product (string): Page visited or product name related to the interaction.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Session ID (string): Session identifier to track multiple actions within one session.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F3E3D-27A2-0280-3A5E-7190E0E5546C}"/>
              </a:ext>
            </a:extLst>
          </p:cNvPr>
          <p:cNvSpPr txBox="1"/>
          <p:nvPr/>
        </p:nvSpPr>
        <p:spPr>
          <a:xfrm>
            <a:off x="6154940" y="741039"/>
            <a:ext cx="593928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 fontAlgn="base">
              <a:buNone/>
            </a:pPr>
            <a:r>
              <a:rPr lang="en-US" sz="2400" b="1" dirty="0">
                <a:solidFill>
                  <a:srgbClr val="FFFF00"/>
                </a:solidFill>
              </a:rPr>
              <a:t>4. Campaigns:</a:t>
            </a:r>
          </a:p>
          <a:p>
            <a:pPr marL="0" indent="0" fontAlgn="base">
              <a:buNone/>
            </a:pPr>
            <a:r>
              <a:rPr lang="en-US" sz="1400" dirty="0"/>
              <a:t>(Details about marketing or advertising campaigns.)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Rows -  200 | Columns - 12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Column Details: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Campaign ID (int): Unique campaign identifier.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Campaign Name (string): Name or title of the campaign.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Campaign Type (string): Type of campaign (e.g., “Email”, “Social Media”, “TV Ad”).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Start Date (date): Launch date of the campaign.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End Date (date): Completion date of the campaign.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Target Segment (string): Target audience or segment (e.g., “Loyal Customers”, “New Registrations”).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Budget (float): Allocated budget for the campaign.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Impressions (int): Number of impressions generated.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Clicks (int): Number of clicks.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Conversions (int): Number of desired conversions (e.g., sign-ups, purchases).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Conversion rate (float): Percentage of impressions that resulted in conversions.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ROI (float): Return on investment for the campaign.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C1A8D-6719-4114-56B1-EEA41B3BC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063" y="759957"/>
            <a:ext cx="412627" cy="4126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D6BBCE-F8AC-283D-234E-478798DF8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64" y="744938"/>
            <a:ext cx="412628" cy="41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10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2B89E-6D37-7B0A-83D2-8BCBDF46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872CED47-534E-5020-BE04-E4718112D531}"/>
              </a:ext>
            </a:extLst>
          </p:cNvPr>
          <p:cNvSpPr/>
          <p:nvPr/>
        </p:nvSpPr>
        <p:spPr>
          <a:xfrm rot="16200000">
            <a:off x="3094219" y="-2244360"/>
            <a:ext cx="6012000" cy="11988000"/>
          </a:xfrm>
          <a:prstGeom prst="round2SameRect">
            <a:avLst>
              <a:gd name="adj1" fmla="val 8605"/>
              <a:gd name="adj2" fmla="val 0"/>
            </a:avLst>
          </a:prstGeom>
          <a:solidFill>
            <a:srgbClr val="1D72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1F9F399-F140-C9B9-9B65-A235C4892479}"/>
              </a:ext>
            </a:extLst>
          </p:cNvPr>
          <p:cNvSpPr/>
          <p:nvPr/>
        </p:nvSpPr>
        <p:spPr>
          <a:xfrm>
            <a:off x="6045499" y="7449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F6DA15E-96FE-0A48-FC73-1D6009753679}"/>
              </a:ext>
            </a:extLst>
          </p:cNvPr>
          <p:cNvSpPr/>
          <p:nvPr/>
        </p:nvSpPr>
        <p:spPr>
          <a:xfrm>
            <a:off x="97781" y="746238"/>
            <a:ext cx="3833828" cy="6012001"/>
          </a:xfrm>
          <a:prstGeom prst="roundRect">
            <a:avLst>
              <a:gd name="adj" fmla="val 6957"/>
            </a:avLst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7DF4B-CFBA-A9AE-E2F9-EBC19C733466}"/>
              </a:ext>
            </a:extLst>
          </p:cNvPr>
          <p:cNvSpPr txBox="1"/>
          <p:nvPr/>
        </p:nvSpPr>
        <p:spPr>
          <a:xfrm>
            <a:off x="0" y="0"/>
            <a:ext cx="5884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cs typeface="Segoe UI Semibold" panose="020B0702040204020203" pitchFamily="34" charset="0"/>
              </a:rPr>
              <a:t>Appendix 1 - File Descriptions</a:t>
            </a:r>
            <a:endParaRPr lang="en-IN" b="1" dirty="0">
              <a:solidFill>
                <a:srgbClr val="FFFF00"/>
              </a:solidFill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45F01-37F5-188B-08CC-2EF6F5D180C9}"/>
              </a:ext>
            </a:extLst>
          </p:cNvPr>
          <p:cNvSpPr txBox="1"/>
          <p:nvPr/>
        </p:nvSpPr>
        <p:spPr>
          <a:xfrm>
            <a:off x="97781" y="741040"/>
            <a:ext cx="593928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 fontAlgn="base">
              <a:buNone/>
            </a:pPr>
            <a:r>
              <a:rPr lang="en-US" sz="2400" b="1" dirty="0">
                <a:solidFill>
                  <a:srgbClr val="FFFF00"/>
                </a:solidFill>
              </a:rPr>
              <a:t>5. Customer Reviews:</a:t>
            </a:r>
          </a:p>
          <a:p>
            <a:pPr marL="0" indent="0" fontAlgn="base">
              <a:buNone/>
            </a:pPr>
            <a:r>
              <a:rPr lang="en-US" dirty="0"/>
              <a:t>(</a:t>
            </a:r>
            <a:r>
              <a:rPr lang="en-US" sz="1400" dirty="0"/>
              <a:t>Collection of product reviews submitted by customers post-purchase.)</a:t>
            </a:r>
          </a:p>
          <a:p>
            <a:pPr marL="0" indent="0" fontAlgn="base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b="1" dirty="0"/>
              <a:t>Rows -  1,000 | Columns - 10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Column Details: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Review ID (int): Unique identifier for each review.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ID (int or string): Links to customer id in customers.csv.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Product Name (string): Name of the product reviewed.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Product Category (string): Category of the product reviewed.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Full Name (string): Name of the customer (could be anonymized).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Transaction Date (date): Date of the transaction related to this review.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Review Date (date): Date the review was posted.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Rating (int): Rating given by the customer (e.g., 1 to 5 stars).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Review Title (string): Short title or summary of the review.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Review Text (string): Full text of the customer’s review.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50920-E4FA-5CDE-905A-076CE4B3424B}"/>
              </a:ext>
            </a:extLst>
          </p:cNvPr>
          <p:cNvSpPr txBox="1"/>
          <p:nvPr/>
        </p:nvSpPr>
        <p:spPr>
          <a:xfrm>
            <a:off x="6154940" y="741039"/>
            <a:ext cx="593928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Blip>
                <a:blip r:embed="rId3"/>
              </a:buBlip>
              <a:defRPr sz="1600">
                <a:solidFill>
                  <a:schemeClr val="bg1"/>
                </a:solidFill>
              </a:defRPr>
            </a:lvl1pPr>
          </a:lstStyle>
          <a:p>
            <a:pPr marL="0" indent="0" fontAlgn="base">
              <a:buNone/>
            </a:pPr>
            <a:r>
              <a:rPr lang="en-US" sz="2400" b="1" dirty="0">
                <a:solidFill>
                  <a:srgbClr val="FFFF00"/>
                </a:solidFill>
              </a:rPr>
              <a:t>6. Support Tickets:</a:t>
            </a:r>
          </a:p>
          <a:p>
            <a:pPr marL="0" indent="0" fontAlgn="base">
              <a:buNone/>
            </a:pPr>
            <a:r>
              <a:rPr lang="en-US" sz="1400" dirty="0"/>
              <a:t>(Tracks customer support interactions and resolution details.)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Rows -  3,000 | Columns - 10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Column Details: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Ticket ID (int): Unique ID for each support ticket.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ID (int or string): Links to customer id in customers.csv.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Issue Category (string): General category of the issue (e.g., “Billing”, “Product Defect”, “Returns”).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Priority (string): Priority level (“Low”, “Medium”, “High”).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Submission Date (date): Date the ticket was submitted.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Resolution Date (date): Date the ticket was resolved (if applicable).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Resolution Status (string): Status of the ticket (“Open”, “Closed”, “Pending”, etc.).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Resolution Time Hours (float): Time (in hours) taken to resolve the issue.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Satisfaction Score (int or float): Satisfaction rating after resolution (e.g., 1 - 5).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Notes (string): Additional notes or remarks from the support agent.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673F1-CCD7-849F-C931-5AF50473D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876" y="738441"/>
            <a:ext cx="418676" cy="418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227F6E-542C-42CB-9E5D-DBCC50CFBD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347" y="791249"/>
            <a:ext cx="313059" cy="31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56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3073</TotalTime>
  <Words>4126</Words>
  <Application>Microsoft Office PowerPoint</Application>
  <PresentationFormat>Widescreen</PresentationFormat>
  <Paragraphs>555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Segoe UI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Sudhagar Lakshmanan</dc:creator>
  <cp:lastModifiedBy>Sudhagar Lakshmanan</cp:lastModifiedBy>
  <cp:revision>285</cp:revision>
  <dcterms:created xsi:type="dcterms:W3CDTF">2025-08-03T06:49:48Z</dcterms:created>
  <dcterms:modified xsi:type="dcterms:W3CDTF">2026-03-10T07:49:42Z</dcterms:modified>
</cp:coreProperties>
</file>